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1652" autoAdjust="0"/>
  </p:normalViewPr>
  <p:slideViewPr>
    <p:cSldViewPr snapToGrid="0">
      <p:cViewPr varScale="1">
        <p:scale>
          <a:sx n="45" d="100"/>
          <a:sy n="45" d="100"/>
        </p:scale>
        <p:origin x="14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01AD7-B7E0-43A7-A77C-48113325673D}" type="datetimeFigureOut">
              <a:rPr lang="en-US" smtClean="0"/>
              <a:t>7/4/2026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B4A88-E468-4AFB-AF80-9663D1488D69}" type="slidenum">
              <a:rPr lang="en-US" smtClean="0"/>
              <a:t>‹#›</a:t>
            </a:fld>
            <a:endParaRPr lang="en-US"/>
          </a:p>
        </p:txBody>
      </p:sp>
    </p:spTree>
    <p:extLst>
      <p:ext uri="{BB962C8B-B14F-4D97-AF65-F5344CB8AC3E}">
        <p14:creationId xmlns:p14="http://schemas.microsoft.com/office/powerpoint/2010/main" val="2034938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Good morning/afternoon everyone. My name is , and today I will be presenting my research proposal titled "Deepfake Image Detection using Frequency-Domain Features." This research investigates whether </a:t>
            </a:r>
            <a:r>
              <a:rPr lang="en-US" sz="1200" kern="1200" dirty="0" err="1">
                <a:solidFill>
                  <a:schemeClr val="tx1"/>
                </a:solidFill>
                <a:effectLst/>
                <a:latin typeface="+mn-lt"/>
                <a:ea typeface="+mn-ea"/>
                <a:cs typeface="+mn-cs"/>
              </a:rPr>
              <a:t>analysing</a:t>
            </a:r>
            <a:r>
              <a:rPr lang="en-US" sz="1200" kern="1200" dirty="0">
                <a:solidFill>
                  <a:schemeClr val="tx1"/>
                </a:solidFill>
                <a:effectLst/>
                <a:latin typeface="+mn-lt"/>
                <a:ea typeface="+mn-ea"/>
                <a:cs typeface="+mn-cs"/>
              </a:rPr>
              <a:t> images in the frequency domain can improve the detection of AI-generated deepfake images compared with traditional image analysis techniques.</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a:t>
            </a:fld>
            <a:endParaRPr lang="en-US"/>
          </a:p>
        </p:txBody>
      </p:sp>
    </p:spTree>
    <p:extLst>
      <p:ext uri="{BB962C8B-B14F-4D97-AF65-F5344CB8AC3E}">
        <p14:creationId xmlns:p14="http://schemas.microsoft.com/office/powerpoint/2010/main" val="3613596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Deepfake technology has advanced rapidly due to developments in artificial intelligence, especially Generative Adversarial Networks or GANs. These models can create highly realistic fake images that are often difficult for humans to distinguish from genuine ones.</a:t>
            </a:r>
          </a:p>
        </p:txBody>
      </p:sp>
      <p:sp>
        <p:nvSpPr>
          <p:cNvPr id="4" name="Slide Number Placeholder 3"/>
          <p:cNvSpPr>
            <a:spLocks noGrp="1"/>
          </p:cNvSpPr>
          <p:nvPr>
            <p:ph type="sldNum" sz="quarter" idx="5"/>
          </p:nvPr>
        </p:nvSpPr>
        <p:spPr/>
        <p:txBody>
          <a:bodyPr/>
          <a:lstStyle/>
          <a:p>
            <a:fld id="{D1DB4A88-E468-4AFB-AF80-9663D1488D69}" type="slidenum">
              <a:rPr lang="en-US" smtClean="0"/>
              <a:t>2</a:t>
            </a:fld>
            <a:endParaRPr lang="en-US"/>
          </a:p>
        </p:txBody>
      </p:sp>
    </p:spTree>
    <p:extLst>
      <p:ext uri="{BB962C8B-B14F-4D97-AF65-F5344CB8AC3E}">
        <p14:creationId xmlns:p14="http://schemas.microsoft.com/office/powerpoint/2010/main" val="282723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deepfakes have useful applications in entertainment and virtual reality, they are increasingly misused for misinformation, identity theft, political manipulation, and online fraud. </a:t>
            </a:r>
            <a:r>
              <a:rPr lang="en-US" sz="1200" kern="1200">
                <a:solidFill>
                  <a:schemeClr val="tx1"/>
                </a:solidFill>
                <a:effectLst/>
                <a:latin typeface="+mn-lt"/>
                <a:ea typeface="+mn-ea"/>
                <a:cs typeface="+mn-cs"/>
              </a:rPr>
              <a:t>Therefore, reliable automated detection methods have become essential.</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1DB4A88-E468-4AFB-AF80-9663D1488D69}" type="slidenum">
              <a:rPr lang="en-US" smtClean="0"/>
              <a:t>3</a:t>
            </a:fld>
            <a:endParaRPr lang="en-US"/>
          </a:p>
        </p:txBody>
      </p:sp>
    </p:spTree>
    <p:extLst>
      <p:ext uri="{BB962C8B-B14F-4D97-AF65-F5344CB8AC3E}">
        <p14:creationId xmlns:p14="http://schemas.microsoft.com/office/powerpoint/2010/main" val="3815054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Most existing deepfake detection systems </a:t>
            </a:r>
            <a:r>
              <a:rPr lang="en-US" sz="1200" kern="1200" dirty="0" err="1">
                <a:solidFill>
                  <a:schemeClr val="tx1"/>
                </a:solidFill>
                <a:effectLst/>
                <a:latin typeface="+mn-lt"/>
                <a:ea typeface="+mn-ea"/>
                <a:cs typeface="+mn-cs"/>
              </a:rPr>
              <a:t>analyse</a:t>
            </a:r>
            <a:r>
              <a:rPr lang="en-US" sz="1200" kern="1200" dirty="0">
                <a:solidFill>
                  <a:schemeClr val="tx1"/>
                </a:solidFill>
                <a:effectLst/>
                <a:latin typeface="+mn-lt"/>
                <a:ea typeface="+mn-ea"/>
                <a:cs typeface="+mn-cs"/>
              </a:rPr>
              <a:t> images in the spatial domain by looking for visible inconsistencies such as lighting, facial textures, or image artefacts.</a:t>
            </a:r>
          </a:p>
          <a:p>
            <a:r>
              <a:rPr lang="en-US" sz="1200" kern="1200" dirty="0">
                <a:solidFill>
                  <a:schemeClr val="tx1"/>
                </a:solidFill>
                <a:effectLst/>
                <a:latin typeface="+mn-lt"/>
                <a:ea typeface="+mn-ea"/>
                <a:cs typeface="+mn-cs"/>
              </a:rPr>
              <a:t>However, modern GANs generate increasingly realistic images where these visual clues are almost invisible. My research addresses this limitation by investigating frequency-domain analysis, which can reveal hidden spectral patterns that are difficult to observe in normal images.</a:t>
            </a:r>
          </a:p>
        </p:txBody>
      </p:sp>
      <p:sp>
        <p:nvSpPr>
          <p:cNvPr id="4" name="Slide Number Placeholder 3"/>
          <p:cNvSpPr>
            <a:spLocks noGrp="1"/>
          </p:cNvSpPr>
          <p:nvPr>
            <p:ph type="sldNum" sz="quarter" idx="5"/>
          </p:nvPr>
        </p:nvSpPr>
        <p:spPr/>
        <p:txBody>
          <a:bodyPr/>
          <a:lstStyle/>
          <a:p>
            <a:fld id="{D1DB4A88-E468-4AFB-AF80-9663D1488D69}" type="slidenum">
              <a:rPr lang="en-US" smtClean="0"/>
              <a:t>4</a:t>
            </a:fld>
            <a:endParaRPr lang="en-US"/>
          </a:p>
        </p:txBody>
      </p:sp>
    </p:spTree>
    <p:extLst>
      <p:ext uri="{BB962C8B-B14F-4D97-AF65-F5344CB8AC3E}">
        <p14:creationId xmlns:p14="http://schemas.microsoft.com/office/powerpoint/2010/main" val="3113278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main aim of this research is to develop a deepfake image detection system using frequency-domain features.</a:t>
            </a:r>
          </a:p>
          <a:p>
            <a:r>
              <a:rPr lang="en-US" sz="1200" kern="1200" dirty="0">
                <a:solidFill>
                  <a:schemeClr val="tx1"/>
                </a:solidFill>
                <a:effectLst/>
                <a:latin typeface="+mn-lt"/>
                <a:ea typeface="+mn-ea"/>
                <a:cs typeface="+mn-cs"/>
              </a:rPr>
              <a:t>To achieve this, I will use a publicly available dataset, transform images using FFT and DCT, extract frequency features, train machine learning and deep learning models, evaluate their performance using standard metrics, and compare them with traditional spatial-domain methods.</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5</a:t>
            </a:fld>
            <a:endParaRPr lang="en-US"/>
          </a:p>
        </p:txBody>
      </p:sp>
    </p:spTree>
    <p:extLst>
      <p:ext uri="{BB962C8B-B14F-4D97-AF65-F5344CB8AC3E}">
        <p14:creationId xmlns:p14="http://schemas.microsoft.com/office/powerpoint/2010/main" val="1323589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research focuses on four main questions.</a:t>
            </a:r>
          </a:p>
          <a:p>
            <a:r>
              <a:rPr lang="en-US" sz="1200" kern="1200" dirty="0">
                <a:solidFill>
                  <a:schemeClr val="tx1"/>
                </a:solidFill>
                <a:effectLst/>
                <a:latin typeface="+mn-lt"/>
                <a:ea typeface="+mn-ea"/>
                <a:cs typeface="+mn-cs"/>
              </a:rPr>
              <a:t>First, whether frequency-domain analysis can effectively detect deepfake images.</a:t>
            </a:r>
          </a:p>
          <a:p>
            <a:r>
              <a:rPr lang="en-US" sz="1200" kern="1200" dirty="0">
                <a:solidFill>
                  <a:schemeClr val="tx1"/>
                </a:solidFill>
                <a:effectLst/>
                <a:latin typeface="+mn-lt"/>
                <a:ea typeface="+mn-ea"/>
                <a:cs typeface="+mn-cs"/>
              </a:rPr>
              <a:t>Second, which spectral characteristics distinguish real and fake images.</a:t>
            </a:r>
          </a:p>
          <a:p>
            <a:r>
              <a:rPr lang="en-US" sz="1200" kern="1200" dirty="0">
                <a:solidFill>
                  <a:schemeClr val="tx1"/>
                </a:solidFill>
                <a:effectLst/>
                <a:latin typeface="+mn-lt"/>
                <a:ea typeface="+mn-ea"/>
                <a:cs typeface="+mn-cs"/>
              </a:rPr>
              <a:t>Third, how well machine learning models perform using frequency features.</a:t>
            </a:r>
          </a:p>
          <a:p>
            <a:r>
              <a:rPr lang="en-US" sz="1200" kern="1200" dirty="0">
                <a:solidFill>
                  <a:schemeClr val="tx1"/>
                </a:solidFill>
                <a:effectLst/>
                <a:latin typeface="+mn-lt"/>
                <a:ea typeface="+mn-ea"/>
                <a:cs typeface="+mn-cs"/>
              </a:rPr>
              <a:t>Finally, whether frequency-domain methods outperform traditional spatial-domain approaches.</a:t>
            </a:r>
          </a:p>
          <a:p>
            <a:r>
              <a:rPr lang="en-US" sz="1200" kern="1200" dirty="0">
                <a:solidFill>
                  <a:schemeClr val="tx1"/>
                </a:solidFill>
                <a:effectLst/>
                <a:latin typeface="+mn-lt"/>
                <a:ea typeface="+mn-ea"/>
                <a:cs typeface="+mn-cs"/>
              </a:rPr>
              <a:t>The scope is limited to static facial images from the Kaggle Deepfake and Real Images dataset.</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6</a:t>
            </a:fld>
            <a:endParaRPr lang="en-US"/>
          </a:p>
        </p:txBody>
      </p:sp>
    </p:spTree>
    <p:extLst>
      <p:ext uri="{BB962C8B-B14F-4D97-AF65-F5344CB8AC3E}">
        <p14:creationId xmlns:p14="http://schemas.microsoft.com/office/powerpoint/2010/main" val="2018919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research contributes academically by extending research in digital image forensics.</a:t>
            </a:r>
          </a:p>
          <a:p>
            <a:r>
              <a:rPr lang="en-US" sz="1200" kern="1200" dirty="0">
                <a:solidFill>
                  <a:schemeClr val="tx1"/>
                </a:solidFill>
                <a:effectLst/>
                <a:latin typeface="+mn-lt"/>
                <a:ea typeface="+mn-ea"/>
                <a:cs typeface="+mn-cs"/>
              </a:rPr>
              <a:t>Technologically, it proposes a frequency-domain detection framework and compares multiple machine learning and deep learning models.</a:t>
            </a:r>
          </a:p>
          <a:p>
            <a:r>
              <a:rPr lang="en-US" sz="1200" kern="1200" dirty="0">
                <a:solidFill>
                  <a:schemeClr val="tx1"/>
                </a:solidFill>
                <a:effectLst/>
                <a:latin typeface="+mn-lt"/>
                <a:ea typeface="+mn-ea"/>
                <a:cs typeface="+mn-cs"/>
              </a:rPr>
              <a:t>From a societal perspective, the research supports efforts to reduce misinformation, identity theft, and online fraud caused by deepfakes.</a:t>
            </a:r>
          </a:p>
        </p:txBody>
      </p:sp>
      <p:sp>
        <p:nvSpPr>
          <p:cNvPr id="4" name="Slide Number Placeholder 3"/>
          <p:cNvSpPr>
            <a:spLocks noGrp="1"/>
          </p:cNvSpPr>
          <p:nvPr>
            <p:ph type="sldNum" sz="quarter" idx="5"/>
          </p:nvPr>
        </p:nvSpPr>
        <p:spPr/>
        <p:txBody>
          <a:bodyPr/>
          <a:lstStyle/>
          <a:p>
            <a:fld id="{D1DB4A88-E468-4AFB-AF80-9663D1488D69}" type="slidenum">
              <a:rPr lang="en-US" smtClean="0"/>
              <a:t>7</a:t>
            </a:fld>
            <a:endParaRPr lang="en-US"/>
          </a:p>
        </p:txBody>
      </p:sp>
    </p:spTree>
    <p:extLst>
      <p:ext uri="{BB962C8B-B14F-4D97-AF65-F5344CB8AC3E}">
        <p14:creationId xmlns:p14="http://schemas.microsoft.com/office/powerpoint/2010/main" val="1541542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research follows a quantitative experimental design.</a:t>
            </a:r>
          </a:p>
          <a:p>
            <a:r>
              <a:rPr lang="en-US" sz="1200" kern="1200" dirty="0">
                <a:solidFill>
                  <a:schemeClr val="tx1"/>
                </a:solidFill>
                <a:effectLst/>
                <a:latin typeface="+mn-lt"/>
                <a:ea typeface="+mn-ea"/>
                <a:cs typeface="+mn-cs"/>
              </a:rPr>
              <a:t>The hypothesis is that GAN-generated images contain hidden frequency artefacts that are not visible in the spatial domain.</a:t>
            </a:r>
          </a:p>
          <a:p>
            <a:r>
              <a:rPr lang="en-US" sz="1200" kern="1200" dirty="0">
                <a:solidFill>
                  <a:schemeClr val="tx1"/>
                </a:solidFill>
                <a:effectLst/>
                <a:latin typeface="+mn-lt"/>
                <a:ea typeface="+mn-ea"/>
                <a:cs typeface="+mn-cs"/>
              </a:rPr>
              <a:t>I will conduct nine experiments using three neural network architectures-Custom CNN, VGG16, and ResNet50 across three different input types: spatial images, FFT images, and DCT images.</a:t>
            </a:r>
          </a:p>
          <a:p>
            <a:r>
              <a:rPr lang="en-US" sz="1200" kern="1200" dirty="0">
                <a:solidFill>
                  <a:schemeClr val="tx1"/>
                </a:solidFill>
                <a:effectLst/>
                <a:latin typeface="+mn-lt"/>
                <a:ea typeface="+mn-ea"/>
                <a:cs typeface="+mn-cs"/>
              </a:rPr>
              <a:t>Additionally, Logistic Regression will serve as the baseline model</a:t>
            </a:r>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8</a:t>
            </a:fld>
            <a:endParaRPr lang="en-US"/>
          </a:p>
        </p:txBody>
      </p:sp>
    </p:spTree>
    <p:extLst>
      <p:ext uri="{BB962C8B-B14F-4D97-AF65-F5344CB8AC3E}">
        <p14:creationId xmlns:p14="http://schemas.microsoft.com/office/powerpoint/2010/main" val="1583728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dataset comes from Kaggle and contains over 140,000 real and fake facial images.</a:t>
            </a:r>
          </a:p>
          <a:p>
            <a:r>
              <a:rPr lang="en-US" sz="1200" kern="1200" dirty="0">
                <a:solidFill>
                  <a:schemeClr val="tx1"/>
                </a:solidFill>
                <a:effectLst/>
                <a:latin typeface="+mn-lt"/>
                <a:ea typeface="+mn-ea"/>
                <a:cs typeface="+mn-cs"/>
              </a:rPr>
              <a:t>For this research, balanced samples will be selected for both classical machine learning and deep learning experiments.</a:t>
            </a:r>
          </a:p>
          <a:p>
            <a:r>
              <a:rPr lang="en-US" sz="1200" kern="1200" dirty="0">
                <a:solidFill>
                  <a:schemeClr val="tx1"/>
                </a:solidFill>
                <a:effectLst/>
                <a:latin typeface="+mn-lt"/>
                <a:ea typeface="+mn-ea"/>
                <a:cs typeface="+mn-cs"/>
              </a:rPr>
              <a:t>The data will be divided into training and testing sets using an 80-20 stratified split, and duplicate images will be removed using MD5 hashing to avoid data leakage.</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9</a:t>
            </a:fld>
            <a:endParaRPr lang="en-US"/>
          </a:p>
        </p:txBody>
      </p:sp>
    </p:spTree>
    <p:extLst>
      <p:ext uri="{BB962C8B-B14F-4D97-AF65-F5344CB8AC3E}">
        <p14:creationId xmlns:p14="http://schemas.microsoft.com/office/powerpoint/2010/main" val="4256445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training, the images undergo several preprocessing steps.</a:t>
            </a:r>
          </a:p>
          <a:p>
            <a:r>
              <a:rPr lang="en-US" sz="1200" kern="1200" dirty="0">
                <a:solidFill>
                  <a:schemeClr val="tx1"/>
                </a:solidFill>
                <a:effectLst/>
                <a:latin typeface="+mn-lt"/>
                <a:ea typeface="+mn-ea"/>
                <a:cs typeface="+mn-cs"/>
              </a:rPr>
              <a:t>Images are converted to grayscale because frequency analysis relies on intensity values.</a:t>
            </a:r>
          </a:p>
          <a:p>
            <a:r>
              <a:rPr lang="en-US" sz="1200" kern="1200" dirty="0">
                <a:solidFill>
                  <a:schemeClr val="tx1"/>
                </a:solidFill>
                <a:effectLst/>
                <a:latin typeface="+mn-lt"/>
                <a:ea typeface="+mn-ea"/>
                <a:cs typeface="+mn-cs"/>
              </a:rPr>
              <a:t>They are resized to suitable dimensions, </a:t>
            </a:r>
            <a:r>
              <a:rPr lang="en-US" sz="1200" kern="1200" dirty="0" err="1">
                <a:solidFill>
                  <a:schemeClr val="tx1"/>
                </a:solidFill>
                <a:effectLst/>
                <a:latin typeface="+mn-lt"/>
                <a:ea typeface="+mn-ea"/>
                <a:cs typeface="+mn-cs"/>
              </a:rPr>
              <a:t>normalised</a:t>
            </a:r>
            <a:r>
              <a:rPr lang="en-US" sz="1200" kern="1200" dirty="0">
                <a:solidFill>
                  <a:schemeClr val="tx1"/>
                </a:solidFill>
                <a:effectLst/>
                <a:latin typeface="+mn-lt"/>
                <a:ea typeface="+mn-ea"/>
                <a:cs typeface="+mn-cs"/>
              </a:rPr>
              <a:t>, and explored using basic statistical analysis.</a:t>
            </a:r>
          </a:p>
          <a:p>
            <a:r>
              <a:rPr lang="en-US" sz="1200" kern="1200" dirty="0">
                <a:solidFill>
                  <a:schemeClr val="tx1"/>
                </a:solidFill>
                <a:effectLst/>
                <a:latin typeface="+mn-lt"/>
                <a:ea typeface="+mn-ea"/>
                <a:cs typeface="+mn-cs"/>
              </a:rPr>
              <a:t>These preprocessing steps ensure consistent input quality for all models.</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10</a:t>
            </a:fld>
            <a:endParaRPr lang="en-US"/>
          </a:p>
        </p:txBody>
      </p:sp>
    </p:spTree>
    <p:extLst>
      <p:ext uri="{BB962C8B-B14F-4D97-AF65-F5344CB8AC3E}">
        <p14:creationId xmlns:p14="http://schemas.microsoft.com/office/powerpoint/2010/main" val="2318031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core contribution of the research.</a:t>
            </a:r>
          </a:p>
          <a:p>
            <a:r>
              <a:rPr lang="en-US" sz="1200" kern="1200" dirty="0">
                <a:solidFill>
                  <a:schemeClr val="tx1"/>
                </a:solidFill>
                <a:effectLst/>
                <a:latin typeface="+mn-lt"/>
                <a:ea typeface="+mn-ea"/>
                <a:cs typeface="+mn-cs"/>
              </a:rPr>
              <a:t>Fast Fourier Transform and Discrete Cosine Transform convert images from the spatial domain into the frequency domain.</a:t>
            </a:r>
          </a:p>
          <a:p>
            <a:r>
              <a:rPr lang="en-US" sz="1200" kern="1200" dirty="0">
                <a:solidFill>
                  <a:schemeClr val="tx1"/>
                </a:solidFill>
                <a:effectLst/>
                <a:latin typeface="+mn-lt"/>
                <a:ea typeface="+mn-ea"/>
                <a:cs typeface="+mn-cs"/>
              </a:rPr>
              <a:t>From these transformed images, frequency-based features such as spectral energy, magnitude, variance, and high-frequency ratios are extracted.</a:t>
            </a:r>
          </a:p>
          <a:p>
            <a:r>
              <a:rPr lang="en-US" sz="1200" kern="1200" dirty="0">
                <a:solidFill>
                  <a:schemeClr val="tx1"/>
                </a:solidFill>
                <a:effectLst/>
                <a:latin typeface="+mn-lt"/>
                <a:ea typeface="+mn-ea"/>
                <a:cs typeface="+mn-cs"/>
              </a:rPr>
              <a:t>These features capture hidden artefacts introduced during deepfake generation.</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11</a:t>
            </a:fld>
            <a:endParaRPr lang="en-US"/>
          </a:p>
        </p:txBody>
      </p:sp>
    </p:spTree>
    <p:extLst>
      <p:ext uri="{BB962C8B-B14F-4D97-AF65-F5344CB8AC3E}">
        <p14:creationId xmlns:p14="http://schemas.microsoft.com/office/powerpoint/2010/main" val="596309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Four different models will be evaluated.</a:t>
            </a:r>
          </a:p>
          <a:p>
            <a:r>
              <a:rPr lang="en-US" sz="1200" kern="1200" dirty="0">
                <a:solidFill>
                  <a:schemeClr val="tx1"/>
                </a:solidFill>
                <a:effectLst/>
                <a:latin typeface="+mn-lt"/>
                <a:ea typeface="+mn-ea"/>
                <a:cs typeface="+mn-cs"/>
              </a:rPr>
              <a:t>Logistic Regression provides a simple baseline using handcrafted frequency features.</a:t>
            </a:r>
          </a:p>
          <a:p>
            <a:r>
              <a:rPr lang="en-US" sz="1200" kern="1200" dirty="0">
                <a:solidFill>
                  <a:schemeClr val="tx1"/>
                </a:solidFill>
                <a:effectLst/>
                <a:latin typeface="+mn-lt"/>
                <a:ea typeface="+mn-ea"/>
                <a:cs typeface="+mn-cs"/>
              </a:rPr>
              <a:t>The Custom CNN learns features directly from transformed images.</a:t>
            </a:r>
          </a:p>
          <a:p>
            <a:r>
              <a:rPr lang="en-US" sz="1200" kern="1200" dirty="0">
                <a:solidFill>
                  <a:schemeClr val="tx1"/>
                </a:solidFill>
                <a:effectLst/>
                <a:latin typeface="+mn-lt"/>
                <a:ea typeface="+mn-ea"/>
                <a:cs typeface="+mn-cs"/>
              </a:rPr>
              <a:t>VGG16 and ResNet50 use transfer learning with pretrained ImageNet weights to improve classification performance.</a:t>
            </a:r>
          </a:p>
          <a:p>
            <a:r>
              <a:rPr lang="en-US" sz="1200" kern="1200" dirty="0">
                <a:solidFill>
                  <a:schemeClr val="tx1"/>
                </a:solidFill>
                <a:effectLst/>
                <a:latin typeface="+mn-lt"/>
                <a:ea typeface="+mn-ea"/>
                <a:cs typeface="+mn-cs"/>
              </a:rPr>
              <a:t>Comparing these models helps determine which architecture benefits most from frequency-domain information.</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12</a:t>
            </a:fld>
            <a:endParaRPr lang="en-US"/>
          </a:p>
        </p:txBody>
      </p:sp>
    </p:spTree>
    <p:extLst>
      <p:ext uri="{BB962C8B-B14F-4D97-AF65-F5344CB8AC3E}">
        <p14:creationId xmlns:p14="http://schemas.microsoft.com/office/powerpoint/2010/main" val="1857980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Model performance will be evaluated using Accuracy, Precision, Recall, and F1-score.</a:t>
            </a:r>
          </a:p>
          <a:p>
            <a:r>
              <a:rPr lang="en-US" sz="1200" kern="1200" dirty="0">
                <a:solidFill>
                  <a:schemeClr val="tx1"/>
                </a:solidFill>
                <a:effectLst/>
                <a:latin typeface="+mn-lt"/>
                <a:ea typeface="+mn-ea"/>
                <a:cs typeface="+mn-cs"/>
              </a:rPr>
              <a:t>Confusion matrices will also be </a:t>
            </a:r>
            <a:r>
              <a:rPr lang="en-US" sz="1200" kern="1200" dirty="0" err="1">
                <a:solidFill>
                  <a:schemeClr val="tx1"/>
                </a:solidFill>
                <a:effectLst/>
                <a:latin typeface="+mn-lt"/>
                <a:ea typeface="+mn-ea"/>
                <a:cs typeface="+mn-cs"/>
              </a:rPr>
              <a:t>analysed</a:t>
            </a:r>
            <a:r>
              <a:rPr lang="en-US" sz="1200" kern="1200" dirty="0">
                <a:solidFill>
                  <a:schemeClr val="tx1"/>
                </a:solidFill>
                <a:effectLst/>
                <a:latin typeface="+mn-lt"/>
                <a:ea typeface="+mn-ea"/>
                <a:cs typeface="+mn-cs"/>
              </a:rPr>
              <a:t>, particularly false negatives because missing a deepfake can have serious consequences.</a:t>
            </a:r>
          </a:p>
          <a:p>
            <a:r>
              <a:rPr lang="en-US" sz="1200" kern="1200" dirty="0">
                <a:solidFill>
                  <a:schemeClr val="tx1"/>
                </a:solidFill>
                <a:effectLst/>
                <a:latin typeface="+mn-lt"/>
                <a:ea typeface="+mn-ea"/>
                <a:cs typeface="+mn-cs"/>
              </a:rPr>
              <a:t>Ethically, this research only uses publicly available datasets and is intended solely for defensive purposes detecting deepfakes rather than creating them.</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13</a:t>
            </a:fld>
            <a:endParaRPr lang="en-US"/>
          </a:p>
        </p:txBody>
      </p:sp>
    </p:spTree>
    <p:extLst>
      <p:ext uri="{BB962C8B-B14F-4D97-AF65-F5344CB8AC3E}">
        <p14:creationId xmlns:p14="http://schemas.microsoft.com/office/powerpoint/2010/main" val="1132402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planned over eight months.</a:t>
            </a:r>
          </a:p>
          <a:p>
            <a:r>
              <a:rPr lang="en-US" dirty="0"/>
              <a:t>The first two months focus on literature review and ethics approval.</a:t>
            </a:r>
          </a:p>
          <a:p>
            <a:r>
              <a:rPr lang="en-US" dirty="0"/>
              <a:t>The following months cover dataset preparation, feature engineering, model development, evaluation, and finally thesis writing and review.</a:t>
            </a:r>
          </a:p>
          <a:p>
            <a:r>
              <a:rPr lang="en-US" dirty="0"/>
              <a:t>This schedule provides sufficient time for each research phase.</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14</a:t>
            </a:fld>
            <a:endParaRPr lang="en-US"/>
          </a:p>
        </p:txBody>
      </p:sp>
    </p:spTree>
    <p:extLst>
      <p:ext uri="{BB962C8B-B14F-4D97-AF65-F5344CB8AC3E}">
        <p14:creationId xmlns:p14="http://schemas.microsoft.com/office/powerpoint/2010/main" val="2049163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Some anticipated challenges include limited dataset diversity, reduced image resolution after preprocessing, and computational limitations when training deep learning models on Google </a:t>
            </a:r>
            <a:r>
              <a:rPr lang="en-US" sz="1200" kern="1200" dirty="0" err="1">
                <a:solidFill>
                  <a:schemeClr val="tx1"/>
                </a:solidFill>
                <a:effectLst/>
                <a:latin typeface="+mn-lt"/>
                <a:ea typeface="+mn-ea"/>
                <a:cs typeface="+mn-cs"/>
              </a:rPr>
              <a:t>Colab</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These limitations will be acknowledged in the research, and all findings will be reported objectively without selective reporting.</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15</a:t>
            </a:fld>
            <a:endParaRPr lang="en-US"/>
          </a:p>
        </p:txBody>
      </p:sp>
    </p:spTree>
    <p:extLst>
      <p:ext uri="{BB962C8B-B14F-4D97-AF65-F5344CB8AC3E}">
        <p14:creationId xmlns:p14="http://schemas.microsoft.com/office/powerpoint/2010/main" val="736550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are the main references supporting my research, including recent studies on deepfake detection, frequency-domain analysis, and digital image forensics.</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16</a:t>
            </a:fld>
            <a:endParaRPr lang="en-US"/>
          </a:p>
        </p:txBody>
      </p:sp>
    </p:spTree>
    <p:extLst>
      <p:ext uri="{BB962C8B-B14F-4D97-AF65-F5344CB8AC3E}">
        <p14:creationId xmlns:p14="http://schemas.microsoft.com/office/powerpoint/2010/main" val="2573241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Thank you very much for your time and attention.</a:t>
            </a:r>
          </a:p>
          <a:p>
            <a:r>
              <a:rPr lang="en-US" sz="1200" kern="1200" dirty="0">
                <a:solidFill>
                  <a:schemeClr val="tx1"/>
                </a:solidFill>
                <a:effectLst/>
                <a:latin typeface="+mn-lt"/>
                <a:ea typeface="+mn-ea"/>
                <a:cs typeface="+mn-cs"/>
              </a:rPr>
              <a:t>This concludes my presentation, and I would be happy to answer any questions or receive your feedback.</a:t>
            </a:r>
          </a:p>
          <a:p>
            <a:endParaRPr lang="en-US" dirty="0"/>
          </a:p>
        </p:txBody>
      </p:sp>
      <p:sp>
        <p:nvSpPr>
          <p:cNvPr id="4" name="Slide Number Placeholder 3"/>
          <p:cNvSpPr>
            <a:spLocks noGrp="1"/>
          </p:cNvSpPr>
          <p:nvPr>
            <p:ph type="sldNum" sz="quarter" idx="5"/>
          </p:nvPr>
        </p:nvSpPr>
        <p:spPr/>
        <p:txBody>
          <a:bodyPr/>
          <a:lstStyle/>
          <a:p>
            <a:fld id="{D1DB4A88-E468-4AFB-AF80-9663D1488D69}" type="slidenum">
              <a:rPr lang="en-US" smtClean="0"/>
              <a:t>17</a:t>
            </a:fld>
            <a:endParaRPr lang="en-US"/>
          </a:p>
        </p:txBody>
      </p:sp>
    </p:spTree>
    <p:extLst>
      <p:ext uri="{BB962C8B-B14F-4D97-AF65-F5344CB8AC3E}">
        <p14:creationId xmlns:p14="http://schemas.microsoft.com/office/powerpoint/2010/main" val="2589839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7/4/2026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7/4/2026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7/4/2026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7/4/2026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7/4/2026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7/4/2026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7/4/2026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145/3801962"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geeksforgeeks.org/deep-learning/generative-adversarial-network-gan/" TargetMode="External"/><Relationship Id="rId5" Type="http://schemas.openxmlformats.org/officeDocument/2006/relationships/hyperlink" Target="https://doi.org/10.3390/info16040270" TargetMode="External"/><Relationship Id="rId4" Type="http://schemas.openxmlformats.org/officeDocument/2006/relationships/hyperlink" Target="https://doi.org/10.1016/j.heliyon.2025.e42273"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179B-4BE5-84CB-B789-7D425ADFCF5C}"/>
              </a:ext>
            </a:extLst>
          </p:cNvPr>
          <p:cNvSpPr>
            <a:spLocks noGrp="1"/>
          </p:cNvSpPr>
          <p:nvPr>
            <p:ph type="ctrTitle"/>
          </p:nvPr>
        </p:nvSpPr>
        <p:spPr>
          <a:xfrm>
            <a:off x="1915126" y="1926771"/>
            <a:ext cx="8361229" cy="2330023"/>
          </a:xfrm>
        </p:spPr>
        <p:txBody>
          <a:bodyPr/>
          <a:lstStyle/>
          <a:p>
            <a:r>
              <a:rPr lang="en-US" sz="4400" b="1" dirty="0">
                <a:latin typeface="Times New Roman" panose="02020603050405020304" pitchFamily="18" charset="0"/>
                <a:cs typeface="Times New Roman" panose="02020603050405020304" pitchFamily="18" charset="0"/>
              </a:rPr>
              <a:t>Deepfake Image Detection using Frequency-Domain Features</a:t>
            </a:r>
          </a:p>
        </p:txBody>
      </p:sp>
      <p:sp>
        <p:nvSpPr>
          <p:cNvPr id="3" name="Subtitle 2">
            <a:extLst>
              <a:ext uri="{FF2B5EF4-FFF2-40B4-BE49-F238E27FC236}">
                <a16:creationId xmlns:a16="http://schemas.microsoft.com/office/drawing/2014/main" id="{4AE43C70-2E06-6641-3A61-D8C2CF44C516}"/>
              </a:ext>
            </a:extLst>
          </p:cNvPr>
          <p:cNvSpPr>
            <a:spLocks noGrp="1"/>
          </p:cNvSpPr>
          <p:nvPr>
            <p:ph type="subTitle" idx="1"/>
          </p:nvPr>
        </p:nvSpPr>
        <p:spPr>
          <a:xfrm>
            <a:off x="2679905" y="4402593"/>
            <a:ext cx="6831673" cy="1086237"/>
          </a:xfrm>
        </p:spPr>
        <p:txBody>
          <a:bodyPr>
            <a:normAutofit fontScale="92500" lnSpcReduction="10000"/>
          </a:bodyPr>
          <a:lstStyle/>
          <a:p>
            <a:r>
              <a:rPr lang="en-AU" b="1" dirty="0">
                <a:latin typeface="Times New Roman" panose="02020603050405020304" pitchFamily="18" charset="0"/>
                <a:cs typeface="Times New Roman" panose="02020603050405020304" pitchFamily="18" charset="0"/>
              </a:rPr>
              <a:t>Candidate’s Name:</a:t>
            </a:r>
            <a:endParaRPr lang="en-US" b="1" dirty="0">
              <a:latin typeface="Times New Roman" panose="02020603050405020304" pitchFamily="18" charset="0"/>
              <a:cs typeface="Times New Roman" panose="02020603050405020304" pitchFamily="18" charset="0"/>
            </a:endParaRPr>
          </a:p>
          <a:p>
            <a:r>
              <a:rPr lang="en-AU" b="1" dirty="0">
                <a:latin typeface="Times New Roman" panose="02020603050405020304" pitchFamily="18" charset="0"/>
                <a:cs typeface="Times New Roman" panose="02020603050405020304" pitchFamily="18" charset="0"/>
              </a:rPr>
              <a:t>Supervisors’ Name:</a:t>
            </a:r>
            <a:endParaRPr lang="en-US" b="1" dirty="0">
              <a:latin typeface="Times New Roman" panose="02020603050405020304" pitchFamily="18" charset="0"/>
              <a:cs typeface="Times New Roman" panose="02020603050405020304" pitchFamily="18" charset="0"/>
            </a:endParaRPr>
          </a:p>
          <a:p>
            <a:r>
              <a:rPr lang="en-AU"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2681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02DCB-25C3-BC5E-9AB2-41C7D9C8DDF4}"/>
              </a:ext>
            </a:extLst>
          </p:cNvPr>
          <p:cNvSpPr>
            <a:spLocks noGrp="1"/>
          </p:cNvSpPr>
          <p:nvPr>
            <p:ph type="title"/>
          </p:nvPr>
        </p:nvSpPr>
        <p:spPr>
          <a:xfrm>
            <a:off x="1066799" y="729343"/>
            <a:ext cx="10308772" cy="1485900"/>
          </a:xfrm>
        </p:spPr>
        <p:txBody>
          <a:bodyPr/>
          <a:lstStyle/>
          <a:p>
            <a:pPr algn="ctr"/>
            <a:r>
              <a:rPr lang="en-US" b="1" dirty="0">
                <a:latin typeface="Times New Roman" panose="02020603050405020304" pitchFamily="18" charset="0"/>
                <a:cs typeface="Times New Roman" panose="02020603050405020304" pitchFamily="18" charset="0"/>
              </a:rPr>
              <a:t>Background: Rise of AI-Generated Media</a:t>
            </a:r>
          </a:p>
        </p:txBody>
      </p:sp>
      <p:sp>
        <p:nvSpPr>
          <p:cNvPr id="3" name="Content Placeholder 2">
            <a:extLst>
              <a:ext uri="{FF2B5EF4-FFF2-40B4-BE49-F238E27FC236}">
                <a16:creationId xmlns:a16="http://schemas.microsoft.com/office/drawing/2014/main" id="{8949EE49-7D8C-DCDB-0A27-646573225E8D}"/>
              </a:ext>
            </a:extLst>
          </p:cNvPr>
          <p:cNvSpPr>
            <a:spLocks noGrp="1"/>
          </p:cNvSpPr>
          <p:nvPr>
            <p:ph idx="1"/>
          </p:nvPr>
        </p:nvSpPr>
        <p:spPr>
          <a:xfrm>
            <a:off x="927926" y="1605643"/>
            <a:ext cx="7032172" cy="4849586"/>
          </a:xfrm>
        </p:spPr>
        <p:txBody>
          <a:bodyPr>
            <a:noAutofit/>
          </a:bodyPr>
          <a:lstStyle/>
          <a:p>
            <a:pPr lvl="0" algn="just">
              <a:lnSpc>
                <a:spcPct val="150000"/>
              </a:lnSpc>
            </a:pPr>
            <a:r>
              <a:rPr lang="en-US" dirty="0">
                <a:latin typeface="Times New Roman" panose="02020603050405020304" pitchFamily="18" charset="0"/>
                <a:cs typeface="Times New Roman" panose="02020603050405020304" pitchFamily="18" charset="0"/>
              </a:rPr>
              <a:t>Advances in AI/deep learning (GANs: generator + discriminator) now produce highly realistic synthetic images and video</a:t>
            </a:r>
          </a:p>
          <a:p>
            <a:pPr lvl="0" algn="just">
              <a:lnSpc>
                <a:spcPct val="150000"/>
              </a:lnSpc>
            </a:pPr>
            <a:r>
              <a:rPr lang="en-US" dirty="0">
                <a:latin typeface="Times New Roman" panose="02020603050405020304" pitchFamily="18" charset="0"/>
                <a:cs typeface="Times New Roman" panose="02020603050405020304" pitchFamily="18" charset="0"/>
              </a:rPr>
              <a:t>Increasing difficulty distinguishing genuine from AI-generated content </a:t>
            </a:r>
            <a:r>
              <a:rPr lang="en-AU" dirty="0">
                <a:latin typeface="Times New Roman" panose="02020603050405020304" pitchFamily="18" charset="0"/>
                <a:cs typeface="Times New Roman" panose="02020603050405020304" pitchFamily="18" charset="0"/>
              </a:rPr>
              <a:t>(Pei et al., 2026)</a:t>
            </a:r>
            <a:endParaRPr lang="en-US"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Deepfakes media altered via GANs/autoencoders widely used in entertainment, VR, and social media</a:t>
            </a:r>
          </a:p>
          <a:p>
            <a:pPr lvl="0" algn="just">
              <a:lnSpc>
                <a:spcPct val="150000"/>
              </a:lnSpc>
            </a:pPr>
            <a:r>
              <a:rPr lang="en-US" dirty="0">
                <a:latin typeface="Times New Roman" panose="02020603050405020304" pitchFamily="18" charset="0"/>
                <a:cs typeface="Times New Roman" panose="02020603050405020304" pitchFamily="18" charset="0"/>
              </a:rPr>
              <a:t>Easy access to deepfake tools has enabled misuse without technical expertise</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48F7304-3925-52F4-95D1-30C43749B3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85202" y="2416629"/>
            <a:ext cx="3946070" cy="1973035"/>
          </a:xfrm>
          <a:prstGeom prst="rect">
            <a:avLst/>
          </a:prstGeom>
          <a:noFill/>
          <a:ln>
            <a:noFill/>
          </a:ln>
        </p:spPr>
      </p:pic>
      <p:sp>
        <p:nvSpPr>
          <p:cNvPr id="9" name="TextBox 8">
            <a:extLst>
              <a:ext uri="{FF2B5EF4-FFF2-40B4-BE49-F238E27FC236}">
                <a16:creationId xmlns:a16="http://schemas.microsoft.com/office/drawing/2014/main" id="{7684FE26-690C-AEA5-75FE-65687BE3FD41}"/>
              </a:ext>
            </a:extLst>
          </p:cNvPr>
          <p:cNvSpPr txBox="1"/>
          <p:nvPr/>
        </p:nvSpPr>
        <p:spPr>
          <a:xfrm flipH="1">
            <a:off x="8468595" y="4298505"/>
            <a:ext cx="3026555"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A generic GAN architecture</a:t>
            </a:r>
          </a:p>
        </p:txBody>
      </p:sp>
      <p:sp>
        <p:nvSpPr>
          <p:cNvPr id="10" name="TextBox 9">
            <a:extLst>
              <a:ext uri="{FF2B5EF4-FFF2-40B4-BE49-F238E27FC236}">
                <a16:creationId xmlns:a16="http://schemas.microsoft.com/office/drawing/2014/main" id="{0FD32655-7834-A476-36F2-0CE6624BD22B}"/>
              </a:ext>
            </a:extLst>
          </p:cNvPr>
          <p:cNvSpPr txBox="1"/>
          <p:nvPr/>
        </p:nvSpPr>
        <p:spPr>
          <a:xfrm flipH="1">
            <a:off x="8718804" y="4944836"/>
            <a:ext cx="2526138" cy="261610"/>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a:t>
            </a:r>
            <a:r>
              <a:rPr lang="en-US" sz="1050" dirty="0" err="1">
                <a:latin typeface="Times New Roman" panose="02020603050405020304" pitchFamily="18" charset="0"/>
                <a:cs typeface="Times New Roman" panose="02020603050405020304" pitchFamily="18" charset="0"/>
              </a:rPr>
              <a:t>GeeksforGeeks</a:t>
            </a:r>
            <a:r>
              <a:rPr lang="en-US" sz="1050" dirty="0">
                <a:latin typeface="Times New Roman" panose="02020603050405020304" pitchFamily="18" charset="0"/>
                <a:cs typeface="Times New Roman" panose="02020603050405020304" pitchFamily="18" charset="0"/>
              </a:rPr>
              <a:t>, 2019)</a:t>
            </a:r>
          </a:p>
        </p:txBody>
      </p:sp>
    </p:spTree>
    <p:extLst>
      <p:ext uri="{BB962C8B-B14F-4D97-AF65-F5344CB8AC3E}">
        <p14:creationId xmlns:p14="http://schemas.microsoft.com/office/powerpoint/2010/main" val="2870578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04D4D-1F39-5766-88E6-BF5D6C55211F}"/>
              </a:ext>
            </a:extLst>
          </p:cNvPr>
          <p:cNvSpPr>
            <a:spLocks noGrp="1"/>
          </p:cNvSpPr>
          <p:nvPr>
            <p:ph type="title"/>
          </p:nvPr>
        </p:nvSpPr>
        <p:spPr>
          <a:xfrm>
            <a:off x="1371600" y="685800"/>
            <a:ext cx="9601200" cy="990600"/>
          </a:xfrm>
        </p:spPr>
        <p:txBody>
          <a:bodyPr>
            <a:noAutofit/>
          </a:bodyPr>
          <a:lstStyle/>
          <a:p>
            <a:pPr algn="ctr"/>
            <a:r>
              <a:rPr lang="en-US" sz="4800" b="1" dirty="0">
                <a:latin typeface="Times New Roman" panose="02020603050405020304" pitchFamily="18" charset="0"/>
                <a:cs typeface="Times New Roman" panose="02020603050405020304" pitchFamily="18" charset="0"/>
              </a:rPr>
              <a:t>Risks and the Need for Detection </a:t>
            </a:r>
            <a:br>
              <a:rPr lang="en-US" sz="4800" b="1" dirty="0">
                <a:latin typeface="Times New Roman" panose="02020603050405020304" pitchFamily="18" charset="0"/>
                <a:cs typeface="Times New Roman" panose="02020603050405020304" pitchFamily="18" charset="0"/>
              </a:rPr>
            </a:br>
            <a:endParaRPr lang="en-US"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C40EF5-BBB0-B952-4BD3-BF0EC033BC22}"/>
              </a:ext>
            </a:extLst>
          </p:cNvPr>
          <p:cNvSpPr>
            <a:spLocks noGrp="1"/>
          </p:cNvSpPr>
          <p:nvPr>
            <p:ph idx="1"/>
          </p:nvPr>
        </p:nvSpPr>
        <p:spPr>
          <a:xfrm>
            <a:off x="1915886" y="1839686"/>
            <a:ext cx="9601200" cy="4332514"/>
          </a:xfrm>
        </p:spPr>
        <p:txBody>
          <a:bodyPr>
            <a:normAutofit/>
          </a:bodyPr>
          <a:lstStyle/>
          <a:p>
            <a:pPr>
              <a:lnSpc>
                <a:spcPct val="150000"/>
              </a:lnSpc>
            </a:pPr>
            <a:r>
              <a:rPr lang="en-US" sz="2400" b="1" dirty="0">
                <a:latin typeface="Times New Roman" panose="02020603050405020304" pitchFamily="18" charset="0"/>
                <a:cs typeface="Times New Roman" panose="02020603050405020304" pitchFamily="18" charset="0"/>
              </a:rPr>
              <a:t>Malicious use:</a:t>
            </a:r>
            <a:r>
              <a:rPr lang="en-US" sz="2400" dirty="0">
                <a:latin typeface="Times New Roman" panose="02020603050405020304" pitchFamily="18" charset="0"/>
                <a:cs typeface="Times New Roman" panose="02020603050405020304" pitchFamily="18" charset="0"/>
              </a:rPr>
              <a:t> disinformation, identity theft, political manipulation, digital fraud</a:t>
            </a:r>
          </a:p>
          <a:p>
            <a:pPr>
              <a:lnSpc>
                <a:spcPct val="150000"/>
              </a:lnSpc>
            </a:pPr>
            <a:r>
              <a:rPr lang="en-US" sz="2400" dirty="0">
                <a:latin typeface="Times New Roman" panose="02020603050405020304" pitchFamily="18" charset="0"/>
                <a:cs typeface="Times New Roman" panose="02020603050405020304" pitchFamily="18" charset="0"/>
              </a:rPr>
              <a:t>Rapid viral spread on social media amplifies societal harm</a:t>
            </a:r>
          </a:p>
          <a:p>
            <a:pPr>
              <a:lnSpc>
                <a:spcPct val="150000"/>
              </a:lnSpc>
            </a:pPr>
            <a:r>
              <a:rPr lang="en-US" sz="2400" dirty="0">
                <a:latin typeface="Times New Roman" panose="02020603050405020304" pitchFamily="18" charset="0"/>
                <a:cs typeface="Times New Roman" panose="02020603050405020304" pitchFamily="18" charset="0"/>
              </a:rPr>
              <a:t>Erosion of trust in digital information sources</a:t>
            </a:r>
          </a:p>
          <a:p>
            <a:pPr>
              <a:lnSpc>
                <a:spcPct val="150000"/>
              </a:lnSpc>
            </a:pPr>
            <a:r>
              <a:rPr lang="en-US" sz="2400" dirty="0">
                <a:latin typeface="Times New Roman" panose="02020603050405020304" pitchFamily="18" charset="0"/>
                <a:cs typeface="Times New Roman" panose="02020603050405020304" pitchFamily="18" charset="0"/>
              </a:rPr>
              <a:t>Growing need for automated, reliable detection systems in cybersecurity, digital forensics, and media verification</a:t>
            </a:r>
            <a:r>
              <a:rPr lang="en-AU" dirty="0">
                <a:latin typeface="Times New Roman" panose="02020603050405020304" pitchFamily="18" charset="0"/>
                <a:cs typeface="Times New Roman" panose="02020603050405020304" pitchFamily="18" charset="0"/>
              </a:rPr>
              <a:t> (Sunil et al., 2025).</a:t>
            </a: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7878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2654-F6B6-4481-002F-DC796792E985}"/>
              </a:ext>
            </a:extLst>
          </p:cNvPr>
          <p:cNvSpPr>
            <a:spLocks noGrp="1"/>
          </p:cNvSpPr>
          <p:nvPr>
            <p:ph type="title"/>
          </p:nvPr>
        </p:nvSpPr>
        <p:spPr>
          <a:xfrm>
            <a:off x="1371600" y="685800"/>
            <a:ext cx="9601200" cy="859971"/>
          </a:xfrm>
        </p:spPr>
        <p:txBody>
          <a:bodyPr/>
          <a:lstStyle/>
          <a:p>
            <a:pPr algn="ctr"/>
            <a:r>
              <a:rPr lang="en-US" b="1" dirty="0">
                <a:latin typeface="Times New Roman" panose="02020603050405020304" pitchFamily="18" charset="0"/>
                <a:cs typeface="Times New Roman" panose="02020603050405020304" pitchFamily="18" charset="0"/>
              </a:rPr>
              <a:t>Research Problem &amp; Gap</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47E3F9-02B5-3233-0BFF-BA3DEC63C04F}"/>
              </a:ext>
            </a:extLst>
          </p:cNvPr>
          <p:cNvSpPr>
            <a:spLocks noGrp="1"/>
          </p:cNvSpPr>
          <p:nvPr>
            <p:ph idx="1"/>
          </p:nvPr>
        </p:nvSpPr>
        <p:spPr>
          <a:xfrm>
            <a:off x="1643743" y="1925945"/>
            <a:ext cx="9601200" cy="3581400"/>
          </a:xfrm>
        </p:spPr>
        <p:txBody>
          <a:bodyPr/>
          <a:lstStyle/>
          <a:p>
            <a:pPr lvl="0"/>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Traditional detectors rely on spatial-domain (pixel-level) analysis  texture, lighting, facial inconsistencies</a:t>
            </a:r>
          </a:p>
          <a:p>
            <a:pPr lvl="0"/>
            <a:r>
              <a:rPr lang="en-US" dirty="0">
                <a:latin typeface="Times New Roman" panose="02020603050405020304" pitchFamily="18" charset="0"/>
                <a:cs typeface="Times New Roman" panose="02020603050405020304" pitchFamily="18" charset="0"/>
              </a:rPr>
              <a:t>As GANs improve, visual artefacts become imperceptible spatial methods lose reliability</a:t>
            </a:r>
          </a:p>
          <a:p>
            <a:pPr lvl="0"/>
            <a:r>
              <a:rPr lang="en-US" dirty="0">
                <a:latin typeface="Times New Roman" panose="02020603050405020304" pitchFamily="18" charset="0"/>
                <a:cs typeface="Times New Roman" panose="02020603050405020304" pitchFamily="18" charset="0"/>
              </a:rPr>
              <a:t>Existing systems struggle to </a:t>
            </a:r>
            <a:r>
              <a:rPr lang="en-US" dirty="0" err="1">
                <a:latin typeface="Times New Roman" panose="02020603050405020304" pitchFamily="18" charset="0"/>
                <a:cs typeface="Times New Roman" panose="02020603050405020304" pitchFamily="18" charset="0"/>
              </a:rPr>
              <a:t>generalise</a:t>
            </a:r>
            <a:r>
              <a:rPr lang="en-US" dirty="0">
                <a:latin typeface="Times New Roman" panose="02020603050405020304" pitchFamily="18" charset="0"/>
                <a:cs typeface="Times New Roman" panose="02020603050405020304" pitchFamily="18" charset="0"/>
              </a:rPr>
              <a:t> across datasets/generation techniques and are sensitive to compression/resolution changes </a:t>
            </a:r>
            <a:r>
              <a:rPr lang="en-AU" dirty="0">
                <a:latin typeface="Times New Roman" panose="02020603050405020304" pitchFamily="18" charset="0"/>
                <a:cs typeface="Times New Roman" panose="02020603050405020304" pitchFamily="18" charset="0"/>
              </a:rPr>
              <a:t> (Sohail et al., 2025).</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22A65A-27DD-D4D9-272E-3662C0F0D7A8}"/>
              </a:ext>
            </a:extLst>
          </p:cNvPr>
          <p:cNvSpPr txBox="1"/>
          <p:nvPr/>
        </p:nvSpPr>
        <p:spPr>
          <a:xfrm>
            <a:off x="1643742" y="1735858"/>
            <a:ext cx="5747657"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Limitations of Existing Detection Approaches</a:t>
            </a:r>
          </a:p>
          <a:p>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EE0AE9B-58A6-4AFB-948B-18EDC53A94C4}"/>
              </a:ext>
            </a:extLst>
          </p:cNvPr>
          <p:cNvSpPr txBox="1"/>
          <p:nvPr/>
        </p:nvSpPr>
        <p:spPr>
          <a:xfrm>
            <a:off x="1643743" y="4347301"/>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Gap</a:t>
            </a:r>
          </a:p>
        </p:txBody>
      </p:sp>
      <p:sp>
        <p:nvSpPr>
          <p:cNvPr id="7" name="TextBox 6">
            <a:extLst>
              <a:ext uri="{FF2B5EF4-FFF2-40B4-BE49-F238E27FC236}">
                <a16:creationId xmlns:a16="http://schemas.microsoft.com/office/drawing/2014/main" id="{92E4F607-7CF1-72A6-997E-F20DFB06708E}"/>
              </a:ext>
            </a:extLst>
          </p:cNvPr>
          <p:cNvSpPr txBox="1"/>
          <p:nvPr/>
        </p:nvSpPr>
        <p:spPr>
          <a:xfrm>
            <a:off x="1741712" y="4937498"/>
            <a:ext cx="9231087" cy="707886"/>
          </a:xfrm>
          <a:prstGeom prst="rect">
            <a:avLst/>
          </a:prstGeom>
          <a:noFill/>
        </p:spPr>
        <p:txBody>
          <a:bodyPr wrap="square" rtlCol="0">
            <a:spAutoFit/>
          </a:bodyPr>
          <a:lstStyle/>
          <a:p>
            <a:pPr lvl="0"/>
            <a:r>
              <a:rPr lang="en-US" sz="2000" dirty="0">
                <a:latin typeface="Times New Roman" panose="02020603050405020304" pitchFamily="18" charset="0"/>
                <a:cs typeface="Times New Roman" panose="02020603050405020304" pitchFamily="18" charset="0"/>
              </a:rPr>
              <a:t>Frequency-domain analysis (FFT/DCT) can reveal hidden spectral artefacts invisible in the spatial domain , an under-explored, more robust alternative </a:t>
            </a:r>
            <a:r>
              <a:rPr lang="en-AU" sz="2000" dirty="0">
                <a:latin typeface="Times New Roman" panose="02020603050405020304" pitchFamily="18" charset="0"/>
                <a:cs typeface="Times New Roman" panose="02020603050405020304" pitchFamily="18" charset="0"/>
              </a:rPr>
              <a:t> (Sohail et al., 2025).</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280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D032-3414-A4C6-A680-4CD94B4CD903}"/>
              </a:ext>
            </a:extLst>
          </p:cNvPr>
          <p:cNvSpPr>
            <a:spLocks noGrp="1"/>
          </p:cNvSpPr>
          <p:nvPr>
            <p:ph type="title"/>
          </p:nvPr>
        </p:nvSpPr>
        <p:spPr>
          <a:xfrm>
            <a:off x="1371600" y="685800"/>
            <a:ext cx="9601200" cy="751114"/>
          </a:xfrm>
        </p:spPr>
        <p:txBody>
          <a:bodyPr/>
          <a:lstStyle/>
          <a:p>
            <a:pPr algn="ctr"/>
            <a:r>
              <a:rPr lang="en-US" b="1" dirty="0">
                <a:latin typeface="Times New Roman" panose="02020603050405020304" pitchFamily="18" charset="0"/>
                <a:cs typeface="Times New Roman" panose="02020603050405020304" pitchFamily="18" charset="0"/>
              </a:rPr>
              <a:t>Research Aim &amp; Objectives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36E4AF-631E-AB61-DAF5-79B6060AB5DE}"/>
              </a:ext>
            </a:extLst>
          </p:cNvPr>
          <p:cNvSpPr>
            <a:spLocks noGrp="1"/>
          </p:cNvSpPr>
          <p:nvPr>
            <p:ph idx="1"/>
          </p:nvPr>
        </p:nvSpPr>
        <p:spPr>
          <a:xfrm>
            <a:off x="1502228" y="1837024"/>
            <a:ext cx="9601200" cy="1143000"/>
          </a:xfrm>
        </p:spPr>
        <p:txBody>
          <a:bodyPr/>
          <a:lstStyle/>
          <a:p>
            <a:pPr marL="0" indent="0" algn="just">
              <a:buNone/>
            </a:pPr>
            <a:r>
              <a:rPr lang="en-AU" dirty="0">
                <a:latin typeface="Times New Roman" panose="02020603050405020304" pitchFamily="18" charset="0"/>
                <a:cs typeface="Times New Roman" panose="02020603050405020304" pitchFamily="18" charset="0"/>
              </a:rPr>
              <a:t>This research aims to develop a deepfake image detection system using frequency-domain features to identify hidden spectral artefacts and improve detection accuracy compared with traditional spatial-domain detection methods.</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117255-A13C-CA94-C442-4265B723EE90}"/>
              </a:ext>
            </a:extLst>
          </p:cNvPr>
          <p:cNvSpPr txBox="1"/>
          <p:nvPr/>
        </p:nvSpPr>
        <p:spPr>
          <a:xfrm>
            <a:off x="1371600" y="1436914"/>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Aim</a:t>
            </a:r>
          </a:p>
        </p:txBody>
      </p:sp>
      <p:sp>
        <p:nvSpPr>
          <p:cNvPr id="5" name="TextBox 4">
            <a:extLst>
              <a:ext uri="{FF2B5EF4-FFF2-40B4-BE49-F238E27FC236}">
                <a16:creationId xmlns:a16="http://schemas.microsoft.com/office/drawing/2014/main" id="{6024B2C7-733A-66F7-9BA8-3D951FB86C2A}"/>
              </a:ext>
            </a:extLst>
          </p:cNvPr>
          <p:cNvSpPr txBox="1"/>
          <p:nvPr/>
        </p:nvSpPr>
        <p:spPr>
          <a:xfrm>
            <a:off x="1371599" y="2779969"/>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Objectives</a:t>
            </a:r>
          </a:p>
        </p:txBody>
      </p:sp>
      <p:sp>
        <p:nvSpPr>
          <p:cNvPr id="7" name="Content Placeholder 2">
            <a:extLst>
              <a:ext uri="{FF2B5EF4-FFF2-40B4-BE49-F238E27FC236}">
                <a16:creationId xmlns:a16="http://schemas.microsoft.com/office/drawing/2014/main" id="{33DDF6CD-8914-1996-ECE5-0F215B00481D}"/>
              </a:ext>
            </a:extLst>
          </p:cNvPr>
          <p:cNvSpPr txBox="1">
            <a:spLocks/>
          </p:cNvSpPr>
          <p:nvPr/>
        </p:nvSpPr>
        <p:spPr>
          <a:xfrm>
            <a:off x="1502228" y="3180079"/>
            <a:ext cx="10689772" cy="3677921"/>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lvl="0"/>
            <a:r>
              <a:rPr lang="en-AU" dirty="0">
                <a:latin typeface="Times New Roman" panose="02020603050405020304" pitchFamily="18" charset="0"/>
                <a:cs typeface="Times New Roman" panose="02020603050405020304" pitchFamily="18" charset="0"/>
              </a:rPr>
              <a:t>To test the Deepfake and Real Images dataset on the detection model training and testing. </a:t>
            </a:r>
            <a:endParaRPr lang="en-US" dirty="0">
              <a:latin typeface="Times New Roman" panose="02020603050405020304" pitchFamily="18" charset="0"/>
              <a:cs typeface="Times New Roman" panose="02020603050405020304" pitchFamily="18" charset="0"/>
            </a:endParaRPr>
          </a:p>
          <a:p>
            <a:pPr lvl="0"/>
            <a:r>
              <a:rPr lang="en-AU" dirty="0">
                <a:latin typeface="Times New Roman" panose="02020603050405020304" pitchFamily="18" charset="0"/>
                <a:cs typeface="Times New Roman" panose="02020603050405020304" pitchFamily="18" charset="0"/>
              </a:rPr>
              <a:t>To convert images in the spatial domain to the frequency domain by using Fast Fourier Transform (FFT) and Discrete Cosine Transform (DCT). </a:t>
            </a:r>
            <a:endParaRPr lang="en-US" dirty="0">
              <a:latin typeface="Times New Roman" panose="02020603050405020304" pitchFamily="18" charset="0"/>
              <a:cs typeface="Times New Roman" panose="02020603050405020304" pitchFamily="18" charset="0"/>
            </a:endParaRPr>
          </a:p>
          <a:p>
            <a:pPr lvl="0"/>
            <a:r>
              <a:rPr lang="en-AU" dirty="0">
                <a:latin typeface="Times New Roman" panose="02020603050405020304" pitchFamily="18" charset="0"/>
                <a:cs typeface="Times New Roman" panose="02020603050405020304" pitchFamily="18" charset="0"/>
              </a:rPr>
              <a:t>To learn informative frequency-domain features that reflect spectral anomalies in deepfake pictures. </a:t>
            </a:r>
            <a:endParaRPr lang="en-US" dirty="0">
              <a:latin typeface="Times New Roman" panose="02020603050405020304" pitchFamily="18" charset="0"/>
              <a:cs typeface="Times New Roman" panose="02020603050405020304" pitchFamily="18" charset="0"/>
            </a:endParaRPr>
          </a:p>
          <a:p>
            <a:pPr lvl="0"/>
            <a:r>
              <a:rPr lang="en-AU" dirty="0">
                <a:latin typeface="Times New Roman" panose="02020603050405020304" pitchFamily="18" charset="0"/>
                <a:cs typeface="Times New Roman" panose="02020603050405020304" pitchFamily="18" charset="0"/>
              </a:rPr>
              <a:t>To learn machine learning models to determine real or fake images. </a:t>
            </a:r>
            <a:endParaRPr lang="en-US" dirty="0">
              <a:latin typeface="Times New Roman" panose="02020603050405020304" pitchFamily="18" charset="0"/>
              <a:cs typeface="Times New Roman" panose="02020603050405020304" pitchFamily="18" charset="0"/>
            </a:endParaRPr>
          </a:p>
          <a:p>
            <a:pPr lvl="0"/>
            <a:r>
              <a:rPr lang="en-AU" dirty="0">
                <a:latin typeface="Times New Roman" panose="02020603050405020304" pitchFamily="18" charset="0"/>
                <a:cs typeface="Times New Roman" panose="02020603050405020304" pitchFamily="18" charset="0"/>
              </a:rPr>
              <a:t>To assess the performance of models in terms of standard measures: accuracy, precision, recall and F1-score. </a:t>
            </a:r>
            <a:endParaRPr lang="en-US" dirty="0">
              <a:latin typeface="Times New Roman" panose="02020603050405020304" pitchFamily="18" charset="0"/>
              <a:cs typeface="Times New Roman" panose="02020603050405020304" pitchFamily="18" charset="0"/>
            </a:endParaRPr>
          </a:p>
          <a:p>
            <a:pPr lvl="0"/>
            <a:r>
              <a:rPr lang="en-AU" dirty="0">
                <a:latin typeface="Times New Roman" panose="02020603050405020304" pitchFamily="18" charset="0"/>
                <a:cs typeface="Times New Roman" panose="02020603050405020304" pitchFamily="18" charset="0"/>
              </a:rPr>
              <a:t>To compare the performance of frequency-domain detection to the conventional methods in space.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72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E837D-5A73-0B41-9A90-4414CD77D381}"/>
              </a:ext>
            </a:extLst>
          </p:cNvPr>
          <p:cNvSpPr>
            <a:spLocks noGrp="1"/>
          </p:cNvSpPr>
          <p:nvPr>
            <p:ph type="title"/>
          </p:nvPr>
        </p:nvSpPr>
        <p:spPr>
          <a:xfrm>
            <a:off x="1371599" y="315687"/>
            <a:ext cx="9601200" cy="794656"/>
          </a:xfrm>
        </p:spPr>
        <p:txBody>
          <a:bodyPr>
            <a:normAutofit/>
          </a:bodyPr>
          <a:lstStyle/>
          <a:p>
            <a:pPr algn="ctr"/>
            <a:r>
              <a:rPr lang="en-AU" sz="4000" b="1" dirty="0">
                <a:latin typeface="Times New Roman" panose="02020603050405020304" pitchFamily="18" charset="0"/>
                <a:cs typeface="Times New Roman" panose="02020603050405020304" pitchFamily="18" charset="0"/>
              </a:rPr>
              <a:t>Research Questions &amp;</a:t>
            </a:r>
            <a:r>
              <a:rPr lang="en-US" sz="4000" b="1" dirty="0">
                <a:latin typeface="Times New Roman" panose="02020603050405020304" pitchFamily="18" charset="0"/>
                <a:cs typeface="Times New Roman" panose="02020603050405020304" pitchFamily="18" charset="0"/>
              </a:rPr>
              <a:t> Scope</a:t>
            </a:r>
            <a:r>
              <a:rPr lang="en-US" sz="4000" dirty="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E34709-65A8-B6DB-499A-AE252223D388}"/>
              </a:ext>
            </a:extLst>
          </p:cNvPr>
          <p:cNvSpPr>
            <a:spLocks noGrp="1"/>
          </p:cNvSpPr>
          <p:nvPr>
            <p:ph idx="1"/>
          </p:nvPr>
        </p:nvSpPr>
        <p:spPr>
          <a:xfrm>
            <a:off x="1371599" y="947057"/>
            <a:ext cx="10330543" cy="3733800"/>
          </a:xfrm>
        </p:spPr>
        <p:txBody>
          <a:bodyPr>
            <a:noAutofit/>
          </a:bodyPr>
          <a:lstStyle/>
          <a:p>
            <a:pPr marL="457200" lvl="0" indent="-457200">
              <a:lnSpc>
                <a:spcPct val="150000"/>
              </a:lnSpc>
              <a:buFont typeface="+mj-lt"/>
              <a:buAutoNum type="arabicPeriod"/>
            </a:pPr>
            <a:r>
              <a:rPr lang="en-AU" sz="1800" dirty="0">
                <a:latin typeface="Times New Roman" panose="02020603050405020304" pitchFamily="18" charset="0"/>
                <a:cs typeface="Times New Roman" panose="02020603050405020304" pitchFamily="18" charset="0"/>
              </a:rPr>
              <a:t>Can frequency-domain analysis effectively detect deepfake images by identifying hidden spectral artefacts that are not visible in spatial-domain representations? </a:t>
            </a:r>
            <a:endParaRPr lang="en-US" sz="1800" dirty="0">
              <a:latin typeface="Times New Roman" panose="02020603050405020304" pitchFamily="18" charset="0"/>
              <a:cs typeface="Times New Roman" panose="02020603050405020304" pitchFamily="18" charset="0"/>
            </a:endParaRPr>
          </a:p>
          <a:p>
            <a:pPr marL="457200" lvl="0" indent="-457200">
              <a:lnSpc>
                <a:spcPct val="150000"/>
              </a:lnSpc>
              <a:buFont typeface="+mj-lt"/>
              <a:buAutoNum type="arabicPeriod"/>
            </a:pPr>
            <a:r>
              <a:rPr lang="en-AU" sz="1800" dirty="0">
                <a:latin typeface="Times New Roman" panose="02020603050405020304" pitchFamily="18" charset="0"/>
                <a:cs typeface="Times New Roman" panose="02020603050405020304" pitchFamily="18" charset="0"/>
              </a:rPr>
              <a:t>What specific spectral </a:t>
            </a:r>
            <a:r>
              <a:rPr lang="en-AU" sz="1800" dirty="0" err="1">
                <a:latin typeface="Times New Roman" panose="02020603050405020304" pitchFamily="18" charset="0"/>
                <a:cs typeface="Times New Roman" panose="02020603050405020304" pitchFamily="18" charset="0"/>
              </a:rPr>
              <a:t>cAharacteristics</a:t>
            </a:r>
            <a:r>
              <a:rPr lang="en-AU" sz="1800" dirty="0">
                <a:latin typeface="Times New Roman" panose="02020603050405020304" pitchFamily="18" charset="0"/>
                <a:cs typeface="Times New Roman" panose="02020603050405020304" pitchFamily="18" charset="0"/>
              </a:rPr>
              <a:t> or frequency patterns distinguish real images from deepfake-generated images? </a:t>
            </a:r>
            <a:endParaRPr lang="en-US" sz="1800" dirty="0">
              <a:latin typeface="Times New Roman" panose="02020603050405020304" pitchFamily="18" charset="0"/>
              <a:cs typeface="Times New Roman" panose="02020603050405020304" pitchFamily="18" charset="0"/>
            </a:endParaRPr>
          </a:p>
          <a:p>
            <a:pPr marL="457200" lvl="0" indent="-457200">
              <a:lnSpc>
                <a:spcPct val="150000"/>
              </a:lnSpc>
              <a:buFont typeface="+mj-lt"/>
              <a:buAutoNum type="arabicPeriod"/>
            </a:pPr>
            <a:r>
              <a:rPr lang="en-AU" sz="1800" dirty="0">
                <a:latin typeface="Times New Roman" panose="02020603050405020304" pitchFamily="18" charset="0"/>
                <a:cs typeface="Times New Roman" panose="02020603050405020304" pitchFamily="18" charset="0"/>
              </a:rPr>
              <a:t>How effectively do machine learning models perform when trained using frequency-domain features for deepfake image classification? </a:t>
            </a:r>
            <a:endParaRPr lang="en-US" sz="1800" dirty="0">
              <a:latin typeface="Times New Roman" panose="02020603050405020304" pitchFamily="18" charset="0"/>
              <a:cs typeface="Times New Roman" panose="02020603050405020304" pitchFamily="18" charset="0"/>
            </a:endParaRPr>
          </a:p>
          <a:p>
            <a:pPr marL="457200" lvl="0" indent="-457200">
              <a:lnSpc>
                <a:spcPct val="150000"/>
              </a:lnSpc>
              <a:buFont typeface="+mj-lt"/>
              <a:buAutoNum type="arabicPeriod"/>
            </a:pPr>
            <a:r>
              <a:rPr lang="en-AU" sz="1800" dirty="0">
                <a:latin typeface="Times New Roman" panose="02020603050405020304" pitchFamily="18" charset="0"/>
                <a:cs typeface="Times New Roman" panose="02020603050405020304" pitchFamily="18" charset="0"/>
              </a:rPr>
              <a:t>Does frequency-domain analysis improve detection accuracy, robustness, and generalisation compared to traditional spatial-domain deepfake detection methods? </a:t>
            </a:r>
            <a:endParaRPr lang="en-US" sz="18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endParaRPr lang="en-US"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547E7A2-DE64-DBEB-EF01-6151DB00141D}"/>
              </a:ext>
            </a:extLst>
          </p:cNvPr>
          <p:cNvSpPr txBox="1"/>
          <p:nvPr/>
        </p:nvSpPr>
        <p:spPr>
          <a:xfrm>
            <a:off x="1502228" y="4782272"/>
            <a:ext cx="10580914" cy="1631216"/>
          </a:xfrm>
          <a:prstGeom prst="rect">
            <a:avLst/>
          </a:prstGeom>
          <a:noFill/>
        </p:spPr>
        <p:txBody>
          <a:bodyPr wrap="square" rtlCol="0">
            <a:spAutoFit/>
          </a:bodyPr>
          <a:lstStyle/>
          <a:p>
            <a:pPr lvl="0"/>
            <a:r>
              <a:rPr lang="en-US" sz="2000" b="1" dirty="0">
                <a:latin typeface="Times New Roman" panose="02020603050405020304" pitchFamily="18" charset="0"/>
                <a:cs typeface="Times New Roman" panose="02020603050405020304" pitchFamily="18" charset="0"/>
              </a:rPr>
              <a:t>Scope:</a:t>
            </a:r>
          </a:p>
          <a:p>
            <a:pPr marL="285750" lvl="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Focus: static facial images (not video </a:t>
            </a:r>
            <a:r>
              <a:rPr lang="en-US" sz="2000" dirty="0" err="1">
                <a:latin typeface="Times New Roman" panose="02020603050405020304" pitchFamily="18" charset="0"/>
                <a:cs typeface="Times New Roman" panose="02020603050405020304" pitchFamily="18" charset="0"/>
              </a:rPr>
              <a:t>andaudio</a:t>
            </a:r>
            <a:r>
              <a:rPr lang="en-US" sz="2000" dirty="0">
                <a:latin typeface="Times New Roman" panose="02020603050405020304" pitchFamily="18" charset="0"/>
                <a:cs typeface="Times New Roman" panose="02020603050405020304" pitchFamily="18" charset="0"/>
              </a:rPr>
              <a:t> deepfakes, not real-time detection)</a:t>
            </a:r>
          </a:p>
          <a:p>
            <a:pPr marL="285750" lvl="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Dataset: Kaggle "Deepfake and Real Images"</a:t>
            </a:r>
          </a:p>
          <a:p>
            <a:pPr marL="285750" lvl="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Tools: FFT, DCT, Python-based ML/DL models</a:t>
            </a:r>
          </a:p>
          <a:p>
            <a:pPr lvl="0"/>
            <a:r>
              <a:rPr lang="en-US" sz="20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81809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15F7-C5A1-9A09-47D9-BD226D3841E6}"/>
              </a:ext>
            </a:extLst>
          </p:cNvPr>
          <p:cNvSpPr>
            <a:spLocks noGrp="1"/>
          </p:cNvSpPr>
          <p:nvPr>
            <p:ph type="title"/>
          </p:nvPr>
        </p:nvSpPr>
        <p:spPr>
          <a:xfrm>
            <a:off x="1371600" y="685801"/>
            <a:ext cx="9601200" cy="772886"/>
          </a:xfrm>
        </p:spPr>
        <p:txBody>
          <a:bodyPr/>
          <a:lstStyle/>
          <a:p>
            <a:pPr algn="ctr"/>
            <a:r>
              <a:rPr lang="en-US" b="1" dirty="0">
                <a:latin typeface="Times New Roman" panose="02020603050405020304" pitchFamily="18" charset="0"/>
                <a:cs typeface="Times New Roman" panose="02020603050405020304" pitchFamily="18" charset="0"/>
              </a:rPr>
              <a:t>Significance &amp; Contributions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6B462C-F60B-7368-8784-571B024FB284}"/>
              </a:ext>
            </a:extLst>
          </p:cNvPr>
          <p:cNvSpPr>
            <a:spLocks noGrp="1"/>
          </p:cNvSpPr>
          <p:nvPr>
            <p:ph idx="1"/>
          </p:nvPr>
        </p:nvSpPr>
        <p:spPr>
          <a:xfrm>
            <a:off x="1567543" y="1838904"/>
            <a:ext cx="9601200" cy="1698953"/>
          </a:xfrm>
        </p:spPr>
        <p:txBody>
          <a:bodyPr>
            <a:noAutofit/>
          </a:bodyPr>
          <a:lstStyle/>
          <a:p>
            <a:pPr lvl="0"/>
            <a:r>
              <a:rPr lang="en-US" b="1" dirty="0">
                <a:latin typeface="Times New Roman" panose="02020603050405020304" pitchFamily="18" charset="0"/>
                <a:cs typeface="Times New Roman" panose="02020603050405020304" pitchFamily="18" charset="0"/>
              </a:rPr>
              <a:t>Academic: </a:t>
            </a:r>
            <a:r>
              <a:rPr lang="en-US" dirty="0">
                <a:latin typeface="Times New Roman" panose="02020603050405020304" pitchFamily="18" charset="0"/>
                <a:cs typeface="Times New Roman" panose="02020603050405020304" pitchFamily="18" charset="0"/>
              </a:rPr>
              <a:t>extends deepfake detection/digital forensics research via frequency-domain analysis</a:t>
            </a:r>
          </a:p>
          <a:p>
            <a:pPr lvl="0"/>
            <a:r>
              <a:rPr lang="en-US" b="1" dirty="0">
                <a:latin typeface="Times New Roman" panose="02020603050405020304" pitchFamily="18" charset="0"/>
                <a:cs typeface="Times New Roman" panose="02020603050405020304" pitchFamily="18" charset="0"/>
              </a:rPr>
              <a:t>Technological:</a:t>
            </a:r>
            <a:r>
              <a:rPr lang="en-US" dirty="0">
                <a:latin typeface="Times New Roman" panose="02020603050405020304" pitchFamily="18" charset="0"/>
                <a:cs typeface="Times New Roman" panose="02020603050405020304" pitchFamily="18" charset="0"/>
              </a:rPr>
              <a:t> supports development of AI-based forensic verification tools</a:t>
            </a:r>
          </a:p>
          <a:p>
            <a:pPr lvl="0"/>
            <a:r>
              <a:rPr lang="en-US" b="1" dirty="0">
                <a:latin typeface="Times New Roman" panose="02020603050405020304" pitchFamily="18" charset="0"/>
                <a:cs typeface="Times New Roman" panose="02020603050405020304" pitchFamily="18" charset="0"/>
              </a:rPr>
              <a:t>Societal:</a:t>
            </a:r>
            <a:r>
              <a:rPr lang="en-US" dirty="0">
                <a:latin typeface="Times New Roman" panose="02020603050405020304" pitchFamily="18" charset="0"/>
                <a:cs typeface="Times New Roman" panose="02020603050405020304" pitchFamily="18" charset="0"/>
              </a:rPr>
              <a:t> helps counter misinformation, identity theft, and reputational harm </a:t>
            </a:r>
            <a:r>
              <a:rPr lang="en-AU" dirty="0">
                <a:latin typeface="Times New Roman" panose="02020603050405020304" pitchFamily="18" charset="0"/>
                <a:cs typeface="Times New Roman" panose="02020603050405020304" pitchFamily="18" charset="0"/>
              </a:rPr>
              <a:t> (Alzahrani, 2024).</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E99C13-209D-CFFB-8060-5D4CF1E14234}"/>
              </a:ext>
            </a:extLst>
          </p:cNvPr>
          <p:cNvSpPr txBox="1"/>
          <p:nvPr/>
        </p:nvSpPr>
        <p:spPr>
          <a:xfrm>
            <a:off x="1371600" y="1436914"/>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Significance</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E6EA2C6-D152-9368-3238-ED967F5B3FD4}"/>
              </a:ext>
            </a:extLst>
          </p:cNvPr>
          <p:cNvSpPr txBox="1"/>
          <p:nvPr/>
        </p:nvSpPr>
        <p:spPr>
          <a:xfrm>
            <a:off x="1371600" y="3733408"/>
            <a:ext cx="574765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Key Contributions</a:t>
            </a:r>
          </a:p>
        </p:txBody>
      </p:sp>
      <p:sp>
        <p:nvSpPr>
          <p:cNvPr id="6" name="Content Placeholder 2">
            <a:extLst>
              <a:ext uri="{FF2B5EF4-FFF2-40B4-BE49-F238E27FC236}">
                <a16:creationId xmlns:a16="http://schemas.microsoft.com/office/drawing/2014/main" id="{67EC8461-6BA8-48FC-D8B7-9756C6B7C05A}"/>
              </a:ext>
            </a:extLst>
          </p:cNvPr>
          <p:cNvSpPr txBox="1">
            <a:spLocks/>
          </p:cNvSpPr>
          <p:nvPr/>
        </p:nvSpPr>
        <p:spPr>
          <a:xfrm>
            <a:off x="1567543" y="4222877"/>
            <a:ext cx="9601200" cy="1698953"/>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lvl="0"/>
            <a:r>
              <a:rPr lang="en-US" dirty="0">
                <a:latin typeface="Times New Roman" panose="02020603050405020304" pitchFamily="18" charset="0"/>
                <a:cs typeface="Times New Roman" panose="02020603050405020304" pitchFamily="18" charset="0"/>
              </a:rPr>
              <a:t>A frequency-domain detection framework</a:t>
            </a:r>
          </a:p>
          <a:p>
            <a:pPr lvl="0"/>
            <a:r>
              <a:rPr lang="en-US" dirty="0">
                <a:latin typeface="Times New Roman" panose="02020603050405020304" pitchFamily="18" charset="0"/>
                <a:cs typeface="Times New Roman" panose="02020603050405020304" pitchFamily="18" charset="0"/>
              </a:rPr>
              <a:t>Comparative analysis of spatial vs. frequency-domain features</a:t>
            </a:r>
          </a:p>
          <a:p>
            <a:pPr lvl="0"/>
            <a:r>
              <a:rPr lang="en-US" dirty="0">
                <a:latin typeface="Times New Roman" panose="02020603050405020304" pitchFamily="18" charset="0"/>
                <a:cs typeface="Times New Roman" panose="02020603050405020304" pitchFamily="18" charset="0"/>
              </a:rPr>
              <a:t>Evaluation across multiple ML/deep learning classifiers</a:t>
            </a:r>
          </a:p>
          <a:p>
            <a:pPr lvl="0"/>
            <a:r>
              <a:rPr lang="en-US" dirty="0">
                <a:latin typeface="Times New Roman" panose="02020603050405020304" pitchFamily="18" charset="0"/>
                <a:cs typeface="Times New Roman" panose="02020603050405020304" pitchFamily="18" charset="0"/>
              </a:rPr>
              <a:t>Foundation for future deepfake detection research</a:t>
            </a:r>
          </a:p>
        </p:txBody>
      </p:sp>
    </p:spTree>
    <p:extLst>
      <p:ext uri="{BB962C8B-B14F-4D97-AF65-F5344CB8AC3E}">
        <p14:creationId xmlns:p14="http://schemas.microsoft.com/office/powerpoint/2010/main" val="356608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1D0C-D029-823A-D613-D4670B0CF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AA9BC-3AF6-E19E-C6DB-66FB642E2FF4}"/>
              </a:ext>
            </a:extLst>
          </p:cNvPr>
          <p:cNvSpPr>
            <a:spLocks noGrp="1"/>
          </p:cNvSpPr>
          <p:nvPr>
            <p:ph type="title"/>
          </p:nvPr>
        </p:nvSpPr>
        <p:spPr>
          <a:xfrm>
            <a:off x="1371600" y="685800"/>
            <a:ext cx="9601200" cy="642257"/>
          </a:xfrm>
        </p:spPr>
        <p:txBody>
          <a:bodyPr>
            <a:noAutofit/>
          </a:bodyPr>
          <a:lstStyle/>
          <a:p>
            <a:pPr algn="ctr"/>
            <a:r>
              <a:rPr lang="en-US" b="1" dirty="0"/>
              <a:t>Quantitative, Experimental Design</a:t>
            </a:r>
            <a:endParaRPr lang="en-US" dirty="0"/>
          </a:p>
        </p:txBody>
      </p:sp>
      <p:sp>
        <p:nvSpPr>
          <p:cNvPr id="3" name="Content Placeholder 2">
            <a:extLst>
              <a:ext uri="{FF2B5EF4-FFF2-40B4-BE49-F238E27FC236}">
                <a16:creationId xmlns:a16="http://schemas.microsoft.com/office/drawing/2014/main" id="{B9D5FEA0-6ECC-8B1F-9DFF-B5C73AB7DC66}"/>
              </a:ext>
            </a:extLst>
          </p:cNvPr>
          <p:cNvSpPr>
            <a:spLocks noGrp="1"/>
          </p:cNvSpPr>
          <p:nvPr>
            <p:ph idx="1"/>
          </p:nvPr>
        </p:nvSpPr>
        <p:spPr>
          <a:xfrm>
            <a:off x="1643743" y="1945880"/>
            <a:ext cx="9601200" cy="4748833"/>
          </a:xfrm>
        </p:spPr>
        <p:txBody>
          <a:bodyPr>
            <a:normAutofit/>
          </a:bodyPr>
          <a:lstStyle/>
          <a:p>
            <a:pPr lvl="0">
              <a:lnSpc>
                <a:spcPct val="150000"/>
              </a:lnSpc>
            </a:pPr>
            <a:r>
              <a:rPr lang="en-US" dirty="0">
                <a:latin typeface="Times New Roman" panose="02020603050405020304" pitchFamily="18" charset="0"/>
                <a:cs typeface="Times New Roman" panose="02020603050405020304" pitchFamily="18" charset="0"/>
              </a:rPr>
              <a:t>Hypothesis: GAN-generated images contain frequency-domain artefacts not visible spatially</a:t>
            </a:r>
          </a:p>
          <a:p>
            <a:pPr lvl="0">
              <a:lnSpc>
                <a:spcPct val="150000"/>
              </a:lnSpc>
            </a:pPr>
            <a:r>
              <a:rPr lang="en-US" dirty="0">
                <a:latin typeface="Times New Roman" panose="02020603050405020304" pitchFamily="18" charset="0"/>
                <a:cs typeface="Times New Roman" panose="02020603050405020304" pitchFamily="18" charset="0"/>
              </a:rPr>
              <a:t>3×3 experimental grid: 3 architectures (Custom CNN, VGG16, ResNet50) × 3 input types (Spatial, FFT, DCT) = 9 experiments</a:t>
            </a:r>
          </a:p>
          <a:p>
            <a:pPr lvl="0">
              <a:lnSpc>
                <a:spcPct val="150000"/>
              </a:lnSpc>
            </a:pPr>
            <a:r>
              <a:rPr lang="en-US" dirty="0">
                <a:latin typeface="Times New Roman" panose="02020603050405020304" pitchFamily="18" charset="0"/>
                <a:cs typeface="Times New Roman" panose="02020603050405020304" pitchFamily="18" charset="0"/>
              </a:rPr>
              <a:t>Additional baseline: Logistic Regression on an 8-D FFT+DCT feature vector</a:t>
            </a:r>
          </a:p>
          <a:p>
            <a:pPr lvl="0">
              <a:lnSpc>
                <a:spcPct val="150000"/>
              </a:lnSpc>
            </a:pPr>
            <a:r>
              <a:rPr lang="en-US" dirty="0">
                <a:latin typeface="Times New Roman" panose="02020603050405020304" pitchFamily="18" charset="0"/>
                <a:cs typeface="Times New Roman" panose="02020603050405020304" pitchFamily="18" charset="0"/>
              </a:rPr>
              <a:t>Purely computational no human participants/surveys</a:t>
            </a:r>
          </a:p>
          <a:p>
            <a:pPr lvl="0">
              <a:lnSpc>
                <a:spcPct val="150000"/>
              </a:lnSpc>
            </a:pPr>
            <a:r>
              <a:rPr lang="en-US" dirty="0">
                <a:latin typeface="Times New Roman" panose="02020603050405020304" pitchFamily="18" charset="0"/>
                <a:cs typeface="Times New Roman" panose="02020603050405020304" pitchFamily="18" charset="0"/>
              </a:rPr>
              <a:t>Implemented in Python (Jupyter Notebook) on 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(GPU-accelerated)</a:t>
            </a:r>
          </a:p>
        </p:txBody>
      </p:sp>
      <p:sp>
        <p:nvSpPr>
          <p:cNvPr id="4" name="TextBox 3">
            <a:extLst>
              <a:ext uri="{FF2B5EF4-FFF2-40B4-BE49-F238E27FC236}">
                <a16:creationId xmlns:a16="http://schemas.microsoft.com/office/drawing/2014/main" id="{424E65F6-A671-5F45-7132-B09C422E096C}"/>
              </a:ext>
            </a:extLst>
          </p:cNvPr>
          <p:cNvSpPr txBox="1"/>
          <p:nvPr/>
        </p:nvSpPr>
        <p:spPr>
          <a:xfrm>
            <a:off x="1643743" y="1436914"/>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Quantitative, Experimental Design</a:t>
            </a:r>
          </a:p>
        </p:txBody>
      </p:sp>
    </p:spTree>
    <p:extLst>
      <p:ext uri="{BB962C8B-B14F-4D97-AF65-F5344CB8AC3E}">
        <p14:creationId xmlns:p14="http://schemas.microsoft.com/office/powerpoint/2010/main" val="2776624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C68C-A27D-C9B3-2FCA-BCABAC35D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30281-F0A5-406C-2C9F-266008578B4F}"/>
              </a:ext>
            </a:extLst>
          </p:cNvPr>
          <p:cNvSpPr>
            <a:spLocks noGrp="1"/>
          </p:cNvSpPr>
          <p:nvPr>
            <p:ph type="title"/>
          </p:nvPr>
        </p:nvSpPr>
        <p:spPr>
          <a:xfrm>
            <a:off x="1034141" y="464013"/>
            <a:ext cx="10308772" cy="740228"/>
          </a:xfrm>
        </p:spPr>
        <p:txBody>
          <a:bodyPr/>
          <a:lstStyle/>
          <a:p>
            <a:pPr algn="ctr"/>
            <a:r>
              <a:rPr lang="en-US" b="1" dirty="0">
                <a:latin typeface="Times New Roman" panose="02020603050405020304" pitchFamily="18" charset="0"/>
                <a:cs typeface="Times New Roman" panose="02020603050405020304" pitchFamily="18" charset="0"/>
              </a:rPr>
              <a:t>Dataset &amp; Sampling Strategy</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D51DD1-9AD0-1383-6EFD-8452F1F0DCA7}"/>
              </a:ext>
            </a:extLst>
          </p:cNvPr>
          <p:cNvSpPr>
            <a:spLocks noGrp="1"/>
          </p:cNvSpPr>
          <p:nvPr>
            <p:ph idx="1"/>
          </p:nvPr>
        </p:nvSpPr>
        <p:spPr>
          <a:xfrm>
            <a:off x="726458" y="1596401"/>
            <a:ext cx="7032172" cy="3225970"/>
          </a:xfrm>
        </p:spPr>
        <p:txBody>
          <a:bodyPr>
            <a:normAutofit/>
          </a:bodyPr>
          <a:lstStyle/>
          <a:p>
            <a:pPr lvl="0"/>
            <a:r>
              <a:rPr lang="en-US" dirty="0">
                <a:latin typeface="Times New Roman" panose="02020603050405020304" pitchFamily="18" charset="0"/>
                <a:cs typeface="Times New Roman" panose="02020603050405020304" pitchFamily="18" charset="0"/>
              </a:rPr>
              <a:t>Source: Kaggle "Deepfake and Real Images" (</a:t>
            </a:r>
            <a:r>
              <a:rPr lang="en-US" dirty="0" err="1">
                <a:latin typeface="Times New Roman" panose="02020603050405020304" pitchFamily="18" charset="0"/>
                <a:cs typeface="Times New Roman" panose="02020603050405020304" pitchFamily="18" charset="0"/>
              </a:rPr>
              <a:t>manjilkarki</a:t>
            </a:r>
            <a:r>
              <a:rPr lang="en-US" dirty="0">
                <a:latin typeface="Times New Roman" panose="02020603050405020304" pitchFamily="18" charset="0"/>
                <a:cs typeface="Times New Roman" panose="02020603050405020304" pitchFamily="18" charset="0"/>
              </a:rPr>
              <a:t>)  70,001 real and 70,001 fake pre-cropped facial images</a:t>
            </a:r>
          </a:p>
          <a:p>
            <a:pPr lvl="0"/>
            <a:r>
              <a:rPr lang="en-US" dirty="0">
                <a:latin typeface="Times New Roman" panose="02020603050405020304" pitchFamily="18" charset="0"/>
                <a:cs typeface="Times New Roman" panose="02020603050405020304" pitchFamily="18" charset="0"/>
              </a:rPr>
              <a:t>Balanced sampling: 500/class for classical ML; 1,000/class for deep learning models</a:t>
            </a:r>
          </a:p>
          <a:p>
            <a:pPr lvl="0"/>
            <a:r>
              <a:rPr lang="en-US" dirty="0">
                <a:latin typeface="Times New Roman" panose="02020603050405020304" pitchFamily="18" charset="0"/>
                <a:cs typeface="Times New Roman" panose="02020603050405020304" pitchFamily="18" charset="0"/>
              </a:rPr>
              <a:t>Stratified 80/20 train-test split (</a:t>
            </a:r>
            <a:r>
              <a:rPr lang="en-US" dirty="0" err="1">
                <a:latin typeface="Times New Roman" panose="02020603050405020304" pitchFamily="18" charset="0"/>
                <a:cs typeface="Times New Roman" panose="02020603050405020304" pitchFamily="18" charset="0"/>
              </a:rPr>
              <a:t>random_state</a:t>
            </a:r>
            <a:r>
              <a:rPr lang="en-US" dirty="0">
                <a:latin typeface="Times New Roman" panose="02020603050405020304" pitchFamily="18" charset="0"/>
                <a:cs typeface="Times New Roman" panose="02020603050405020304" pitchFamily="18" charset="0"/>
              </a:rPr>
              <a:t>=42) to preserve class balance</a:t>
            </a:r>
          </a:p>
          <a:p>
            <a:pPr lvl="0"/>
            <a:r>
              <a:rPr lang="en-US" dirty="0">
                <a:latin typeface="Times New Roman" panose="02020603050405020304" pitchFamily="18" charset="0"/>
                <a:cs typeface="Times New Roman" panose="02020603050405020304" pitchFamily="18" charset="0"/>
              </a:rPr>
              <a:t>MD5 hash-based duplicate detection and removal to prevent data leakage</a:t>
            </a:r>
          </a:p>
        </p:txBody>
      </p:sp>
      <p:sp>
        <p:nvSpPr>
          <p:cNvPr id="9" name="TextBox 8">
            <a:extLst>
              <a:ext uri="{FF2B5EF4-FFF2-40B4-BE49-F238E27FC236}">
                <a16:creationId xmlns:a16="http://schemas.microsoft.com/office/drawing/2014/main" id="{45F3452B-9E88-025F-AD4D-77F4EF765B25}"/>
              </a:ext>
            </a:extLst>
          </p:cNvPr>
          <p:cNvSpPr txBox="1"/>
          <p:nvPr/>
        </p:nvSpPr>
        <p:spPr>
          <a:xfrm flipH="1">
            <a:off x="3001574" y="5952586"/>
            <a:ext cx="394351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Train-Test Dataset Split Process</a:t>
            </a:r>
          </a:p>
          <a:p>
            <a:pPr algn="ct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44003C1-C838-B7F2-11CF-3BCA1FD6EA50}"/>
              </a:ext>
            </a:extLst>
          </p:cNvPr>
          <p:cNvSpPr txBox="1"/>
          <p:nvPr/>
        </p:nvSpPr>
        <p:spPr>
          <a:xfrm>
            <a:off x="726458" y="1204241"/>
            <a:ext cx="6096000" cy="392159"/>
          </a:xfrm>
          <a:prstGeom prst="rect">
            <a:avLst/>
          </a:prstGeom>
          <a:noFill/>
        </p:spPr>
        <p:txBody>
          <a:bodyPr wrap="square">
            <a:spAutoFit/>
          </a:bodyPr>
          <a:lstStyle/>
          <a:p>
            <a:pPr marL="0" marR="0">
              <a:lnSpc>
                <a:spcPct val="115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Dataset</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3EE354DB-C6D5-9CA5-5E3E-89FCA64E193D}"/>
              </a:ext>
            </a:extLst>
          </p:cNvPr>
          <p:cNvPicPr>
            <a:picLocks noChangeAspect="1"/>
          </p:cNvPicPr>
          <p:nvPr/>
        </p:nvPicPr>
        <p:blipFill>
          <a:blip r:embed="rId3"/>
          <a:stretch>
            <a:fillRect/>
          </a:stretch>
        </p:blipFill>
        <p:spPr>
          <a:xfrm>
            <a:off x="2885036" y="4430153"/>
            <a:ext cx="4060051" cy="1373636"/>
          </a:xfrm>
          <a:prstGeom prst="rect">
            <a:avLst/>
          </a:prstGeom>
        </p:spPr>
      </p:pic>
      <p:pic>
        <p:nvPicPr>
          <p:cNvPr id="11" name="Picture 10">
            <a:extLst>
              <a:ext uri="{FF2B5EF4-FFF2-40B4-BE49-F238E27FC236}">
                <a16:creationId xmlns:a16="http://schemas.microsoft.com/office/drawing/2014/main" id="{CFA142D9-6AC9-6DEA-8F48-78A971FCA336}"/>
              </a:ext>
            </a:extLst>
          </p:cNvPr>
          <p:cNvPicPr>
            <a:picLocks noChangeAspect="1"/>
          </p:cNvPicPr>
          <p:nvPr/>
        </p:nvPicPr>
        <p:blipFill>
          <a:blip r:embed="rId4"/>
          <a:stretch>
            <a:fillRect/>
          </a:stretch>
        </p:blipFill>
        <p:spPr>
          <a:xfrm>
            <a:off x="7881259" y="1511118"/>
            <a:ext cx="3796030" cy="3225969"/>
          </a:xfrm>
          <a:prstGeom prst="rect">
            <a:avLst/>
          </a:prstGeom>
        </p:spPr>
      </p:pic>
      <p:sp>
        <p:nvSpPr>
          <p:cNvPr id="12" name="TextBox 11">
            <a:extLst>
              <a:ext uri="{FF2B5EF4-FFF2-40B4-BE49-F238E27FC236}">
                <a16:creationId xmlns:a16="http://schemas.microsoft.com/office/drawing/2014/main" id="{6B733C9F-DF44-9CD0-A4B0-C4A4DD6CE267}"/>
              </a:ext>
            </a:extLst>
          </p:cNvPr>
          <p:cNvSpPr txBox="1"/>
          <p:nvPr/>
        </p:nvSpPr>
        <p:spPr>
          <a:xfrm flipH="1">
            <a:off x="7758629" y="4918443"/>
            <a:ext cx="4193884"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Sample Duplicate Image Detection</a:t>
            </a:r>
            <a:endParaRPr lang="en-US" i="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669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CD0A-28DB-BBEC-3A90-2EED75B8F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2A4F0-D1C2-9CC7-38F7-2352432AA5C7}"/>
              </a:ext>
            </a:extLst>
          </p:cNvPr>
          <p:cNvSpPr>
            <a:spLocks noGrp="1"/>
          </p:cNvSpPr>
          <p:nvPr>
            <p:ph type="title"/>
          </p:nvPr>
        </p:nvSpPr>
        <p:spPr>
          <a:xfrm>
            <a:off x="1034141" y="464013"/>
            <a:ext cx="10308772" cy="740228"/>
          </a:xfrm>
        </p:spPr>
        <p:txBody>
          <a:bodyPr/>
          <a:lstStyle/>
          <a:p>
            <a:pPr algn="ctr"/>
            <a:r>
              <a:rPr lang="en-US" b="1" dirty="0"/>
              <a:t>Data Preprocessing</a:t>
            </a:r>
            <a:r>
              <a:rPr lang="en-US" dirty="0"/>
              <a:t>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F3C9CC-87E1-F114-3517-7A876DACC549}"/>
              </a:ext>
            </a:extLst>
          </p:cNvPr>
          <p:cNvSpPr>
            <a:spLocks noGrp="1"/>
          </p:cNvSpPr>
          <p:nvPr>
            <p:ph idx="1"/>
          </p:nvPr>
        </p:nvSpPr>
        <p:spPr>
          <a:xfrm>
            <a:off x="587586" y="1620894"/>
            <a:ext cx="7032172" cy="3225970"/>
          </a:xfrm>
        </p:spPr>
        <p:txBody>
          <a:bodyPr>
            <a:normAutofit/>
          </a:bodyPr>
          <a:lstStyle/>
          <a:p>
            <a:pPr lvl="0" algn="just"/>
            <a:r>
              <a:rPr lang="en-US" dirty="0">
                <a:latin typeface="Times New Roman" panose="02020603050405020304" pitchFamily="18" charset="0"/>
                <a:cs typeface="Times New Roman" panose="02020603050405020304" pitchFamily="18" charset="0"/>
              </a:rPr>
              <a:t>Grayscale loading (OpenCV) - frequency features depend on intensity, not </a:t>
            </a:r>
            <a:r>
              <a:rPr lang="en-US" dirty="0" err="1">
                <a:latin typeface="Times New Roman" panose="02020603050405020304" pitchFamily="18" charset="0"/>
                <a:cs typeface="Times New Roman" panose="02020603050405020304" pitchFamily="18" charset="0"/>
              </a:rPr>
              <a:t>colour</a:t>
            </a:r>
            <a:endParaRPr lang="en-US"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Resizing: 64×64 for classical ML; 128×128 for deep learning</a:t>
            </a:r>
          </a:p>
          <a:p>
            <a:pPr lvl="0" algn="just"/>
            <a:r>
              <a:rPr lang="en-US" dirty="0">
                <a:latin typeface="Times New Roman" panose="02020603050405020304" pitchFamily="18" charset="0"/>
                <a:cs typeface="Times New Roman" panose="02020603050405020304" pitchFamily="18" charset="0"/>
              </a:rPr>
              <a:t>Pixel </a:t>
            </a:r>
            <a:r>
              <a:rPr lang="en-US" dirty="0" err="1">
                <a:latin typeface="Times New Roman" panose="02020603050405020304" pitchFamily="18" charset="0"/>
                <a:cs typeface="Times New Roman" panose="02020603050405020304" pitchFamily="18" charset="0"/>
              </a:rPr>
              <a:t>normalisation</a:t>
            </a:r>
            <a:r>
              <a:rPr lang="en-US" dirty="0">
                <a:latin typeface="Times New Roman" panose="02020603050405020304" pitchFamily="18" charset="0"/>
                <a:cs typeface="Times New Roman" panose="02020603050405020304" pitchFamily="18" charset="0"/>
              </a:rPr>
              <a:t> (0-1 scaling); ImageNet-specific preprocessing for transfer learning models</a:t>
            </a:r>
          </a:p>
          <a:p>
            <a:pPr lvl="0" algn="just"/>
            <a:r>
              <a:rPr lang="en-US" dirty="0">
                <a:latin typeface="Times New Roman" panose="02020603050405020304" pitchFamily="18" charset="0"/>
                <a:cs typeface="Times New Roman" panose="02020603050405020304" pitchFamily="18" charset="0"/>
              </a:rPr>
              <a:t>Exploratory Data Analysis: pixel intensity statistics, histograms, sample </a:t>
            </a:r>
            <a:r>
              <a:rPr lang="en-US" dirty="0" err="1">
                <a:latin typeface="Times New Roman" panose="02020603050405020304" pitchFamily="18" charset="0"/>
                <a:cs typeface="Times New Roman" panose="02020603050405020304" pitchFamily="18" charset="0"/>
              </a:rPr>
              <a:t>visualisations</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50076DC-A389-38E9-6DA2-6CF69BC8592E}"/>
              </a:ext>
            </a:extLst>
          </p:cNvPr>
          <p:cNvSpPr txBox="1"/>
          <p:nvPr/>
        </p:nvSpPr>
        <p:spPr>
          <a:xfrm flipH="1">
            <a:off x="2413743" y="6382007"/>
            <a:ext cx="3682256"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Pixel Intensity Distribution</a:t>
            </a: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F0EFC2E-3FCB-5CCD-83CA-9A1F78353915}"/>
              </a:ext>
            </a:extLst>
          </p:cNvPr>
          <p:cNvSpPr txBox="1"/>
          <p:nvPr/>
        </p:nvSpPr>
        <p:spPr>
          <a:xfrm>
            <a:off x="849087" y="1106711"/>
            <a:ext cx="60960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Preparing Images for Analysis</a:t>
            </a:r>
            <a:endParaRPr lang="en-US"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6A200E8-EA69-97AA-F13F-D7E87ED6A94C}"/>
              </a:ext>
            </a:extLst>
          </p:cNvPr>
          <p:cNvSpPr txBox="1"/>
          <p:nvPr/>
        </p:nvSpPr>
        <p:spPr>
          <a:xfrm flipH="1">
            <a:off x="7391158" y="5275363"/>
            <a:ext cx="448515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Image Loading and Resizing Process</a:t>
            </a:r>
            <a:endParaRPr lang="en-US" i="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947B97F-604F-99D3-F777-EB8D8DF8A034}"/>
              </a:ext>
            </a:extLst>
          </p:cNvPr>
          <p:cNvPicPr>
            <a:picLocks noChangeAspect="1"/>
          </p:cNvPicPr>
          <p:nvPr/>
        </p:nvPicPr>
        <p:blipFill>
          <a:blip r:embed="rId3"/>
          <a:stretch>
            <a:fillRect/>
          </a:stretch>
        </p:blipFill>
        <p:spPr>
          <a:xfrm>
            <a:off x="7686675" y="1204242"/>
            <a:ext cx="4060051" cy="3957048"/>
          </a:xfrm>
          <a:prstGeom prst="rect">
            <a:avLst/>
          </a:prstGeom>
        </p:spPr>
      </p:pic>
      <p:pic>
        <p:nvPicPr>
          <p:cNvPr id="13" name="Picture 12">
            <a:extLst>
              <a:ext uri="{FF2B5EF4-FFF2-40B4-BE49-F238E27FC236}">
                <a16:creationId xmlns:a16="http://schemas.microsoft.com/office/drawing/2014/main" id="{1C3D2118-F131-DD20-7BB2-047DDEACA7A3}"/>
              </a:ext>
            </a:extLst>
          </p:cNvPr>
          <p:cNvPicPr>
            <a:picLocks noChangeAspect="1"/>
          </p:cNvPicPr>
          <p:nvPr/>
        </p:nvPicPr>
        <p:blipFill rotWithShape="1">
          <a:blip r:embed="rId4"/>
          <a:srcRect r="1392"/>
          <a:stretch/>
        </p:blipFill>
        <p:spPr bwMode="auto">
          <a:xfrm>
            <a:off x="2768527" y="4213093"/>
            <a:ext cx="2742245" cy="209701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06152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3DCF5-B7F2-8F41-D4E4-36628D5DF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485C0-135C-56A0-3732-533DEB1C2D64}"/>
              </a:ext>
            </a:extLst>
          </p:cNvPr>
          <p:cNvSpPr>
            <a:spLocks noGrp="1"/>
          </p:cNvSpPr>
          <p:nvPr>
            <p:ph type="title"/>
          </p:nvPr>
        </p:nvSpPr>
        <p:spPr>
          <a:xfrm>
            <a:off x="1034141" y="464013"/>
            <a:ext cx="10308772" cy="740228"/>
          </a:xfrm>
        </p:spPr>
        <p:txBody>
          <a:bodyPr>
            <a:normAutofit/>
          </a:bodyPr>
          <a:lstStyle/>
          <a:p>
            <a:pPr algn="ctr"/>
            <a:r>
              <a:rPr lang="en-US" b="1" dirty="0">
                <a:latin typeface="Times New Roman" panose="02020603050405020304" pitchFamily="18" charset="0"/>
                <a:cs typeface="Times New Roman" panose="02020603050405020304" pitchFamily="18" charset="0"/>
              </a:rPr>
              <a:t>Frequency-Domain Feature Engineering</a:t>
            </a:r>
            <a:r>
              <a:rPr lang="en-US" dirty="0">
                <a:latin typeface="Times New Roman" panose="02020603050405020304" pitchFamily="18" charset="0"/>
                <a:cs typeface="Times New Roman" panose="02020603050405020304" pitchFamily="18" charset="0"/>
              </a:rPr>
              <a:t> </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A84AA7-44E2-B544-9A0A-6ADC9D665A5A}"/>
              </a:ext>
            </a:extLst>
          </p:cNvPr>
          <p:cNvSpPr>
            <a:spLocks noGrp="1"/>
          </p:cNvSpPr>
          <p:nvPr>
            <p:ph idx="1"/>
          </p:nvPr>
        </p:nvSpPr>
        <p:spPr>
          <a:xfrm>
            <a:off x="695143" y="1620894"/>
            <a:ext cx="6903086" cy="3225970"/>
          </a:xfrm>
        </p:spPr>
        <p:txBody>
          <a:bodyPr>
            <a:normAutofit/>
          </a:bodyPr>
          <a:lstStyle/>
          <a:p>
            <a:pPr lvl="0"/>
            <a:r>
              <a:rPr lang="en-US" dirty="0">
                <a:latin typeface="Times New Roman" panose="02020603050405020304" pitchFamily="18" charset="0"/>
                <a:cs typeface="Times New Roman" panose="02020603050405020304" pitchFamily="18" charset="0"/>
              </a:rPr>
              <a:t>FFT: converts images to frequency domain; extracts spectral energy, mean magnitude, variance, high-frequency ratio</a:t>
            </a:r>
          </a:p>
          <a:p>
            <a:pPr lvl="0"/>
            <a:r>
              <a:rPr lang="en-US" dirty="0">
                <a:latin typeface="Times New Roman" panose="02020603050405020304" pitchFamily="18" charset="0"/>
                <a:cs typeface="Times New Roman" panose="02020603050405020304" pitchFamily="18" charset="0"/>
              </a:rPr>
              <a:t>DCT: extracts analogous features from cosine-transformed coefficients (linked to compression artefacts)</a:t>
            </a:r>
          </a:p>
          <a:p>
            <a:r>
              <a:rPr lang="en-US" dirty="0">
                <a:latin typeface="Times New Roman" panose="02020603050405020304" pitchFamily="18" charset="0"/>
                <a:cs typeface="Times New Roman" panose="02020603050405020304" pitchFamily="18" charset="0"/>
              </a:rPr>
              <a:t>Rationale: GAN </a:t>
            </a:r>
            <a:r>
              <a:rPr lang="en-US" dirty="0" err="1">
                <a:latin typeface="Times New Roman" panose="02020603050405020304" pitchFamily="18" charset="0"/>
                <a:cs typeface="Times New Roman" panose="02020603050405020304" pitchFamily="18" charset="0"/>
              </a:rPr>
              <a:t>upsampling</a:t>
            </a:r>
            <a:r>
              <a:rPr lang="en-US" dirty="0">
                <a:latin typeface="Times New Roman" panose="02020603050405020304" pitchFamily="18" charset="0"/>
                <a:cs typeface="Times New Roman" panose="02020603050405020304" pitchFamily="18" charset="0"/>
              </a:rPr>
              <a:t> creates grid-like high-frequency artefacts invisible in spatial domain but detectable </a:t>
            </a:r>
          </a:p>
        </p:txBody>
      </p:sp>
      <p:sp>
        <p:nvSpPr>
          <p:cNvPr id="9" name="TextBox 8">
            <a:extLst>
              <a:ext uri="{FF2B5EF4-FFF2-40B4-BE49-F238E27FC236}">
                <a16:creationId xmlns:a16="http://schemas.microsoft.com/office/drawing/2014/main" id="{14545AC0-9B08-53DD-9EAE-AF7E7A4FFDF1}"/>
              </a:ext>
            </a:extLst>
          </p:cNvPr>
          <p:cNvSpPr txBox="1"/>
          <p:nvPr/>
        </p:nvSpPr>
        <p:spPr>
          <a:xfrm flipH="1">
            <a:off x="2413744" y="5867072"/>
            <a:ext cx="4291856"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a:t>
            </a:r>
            <a:r>
              <a:rPr lang="en-US" dirty="0"/>
              <a:t>DCT Feature Extraction Procedure</a:t>
            </a:r>
            <a:endParaRPr lang="en-US" i="1" dirty="0"/>
          </a:p>
          <a:p>
            <a:pPr algn="ctr"/>
            <a:endParaRPr lang="en-US" i="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7011C34-6862-CD8C-FDB2-3B797A4F670D}"/>
              </a:ext>
            </a:extLst>
          </p:cNvPr>
          <p:cNvSpPr txBox="1"/>
          <p:nvPr/>
        </p:nvSpPr>
        <p:spPr>
          <a:xfrm>
            <a:off x="849087" y="1106711"/>
            <a:ext cx="60960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Core Methodological Innovation</a:t>
            </a:r>
            <a:endParaRPr lang="en-US"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BB684E1-07B9-517B-01E6-69A82896DFD9}"/>
              </a:ext>
            </a:extLst>
          </p:cNvPr>
          <p:cNvSpPr txBox="1"/>
          <p:nvPr/>
        </p:nvSpPr>
        <p:spPr>
          <a:xfrm flipH="1">
            <a:off x="7422636" y="5616701"/>
            <a:ext cx="4485156"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a:t>
            </a:r>
            <a:r>
              <a:rPr lang="en-US" dirty="0"/>
              <a:t>FFT Spectrum Analysis of Real and Fake Images</a:t>
            </a:r>
            <a:endParaRPr lang="en-US" i="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528120-37A1-FB5F-1098-7914CBF30AAA}"/>
              </a:ext>
            </a:extLst>
          </p:cNvPr>
          <p:cNvPicPr>
            <a:picLocks noChangeAspect="1"/>
          </p:cNvPicPr>
          <p:nvPr/>
        </p:nvPicPr>
        <p:blipFill>
          <a:blip r:embed="rId3"/>
          <a:stretch>
            <a:fillRect/>
          </a:stretch>
        </p:blipFill>
        <p:spPr>
          <a:xfrm>
            <a:off x="7522029" y="1255954"/>
            <a:ext cx="4547870" cy="4178300"/>
          </a:xfrm>
          <a:prstGeom prst="rect">
            <a:avLst/>
          </a:prstGeom>
        </p:spPr>
      </p:pic>
      <p:pic>
        <p:nvPicPr>
          <p:cNvPr id="5" name="Picture 4">
            <a:extLst>
              <a:ext uri="{FF2B5EF4-FFF2-40B4-BE49-F238E27FC236}">
                <a16:creationId xmlns:a16="http://schemas.microsoft.com/office/drawing/2014/main" id="{21D1C327-31EE-950D-6ABE-9693ACDADA80}"/>
              </a:ext>
            </a:extLst>
          </p:cNvPr>
          <p:cNvPicPr>
            <a:picLocks noChangeAspect="1"/>
          </p:cNvPicPr>
          <p:nvPr/>
        </p:nvPicPr>
        <p:blipFill>
          <a:blip r:embed="rId4"/>
          <a:stretch>
            <a:fillRect/>
          </a:stretch>
        </p:blipFill>
        <p:spPr>
          <a:xfrm>
            <a:off x="1614039" y="3970570"/>
            <a:ext cx="5331048" cy="1752588"/>
          </a:xfrm>
          <a:prstGeom prst="rect">
            <a:avLst/>
          </a:prstGeom>
        </p:spPr>
      </p:pic>
    </p:spTree>
    <p:extLst>
      <p:ext uri="{BB962C8B-B14F-4D97-AF65-F5344CB8AC3E}">
        <p14:creationId xmlns:p14="http://schemas.microsoft.com/office/powerpoint/2010/main" val="3751327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CFF26-7EE3-0EE6-5AD1-0850D72C1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3A1F5-D536-4FCF-6669-077BCBD14BC6}"/>
              </a:ext>
            </a:extLst>
          </p:cNvPr>
          <p:cNvSpPr>
            <a:spLocks noGrp="1"/>
          </p:cNvSpPr>
          <p:nvPr>
            <p:ph type="title"/>
          </p:nvPr>
        </p:nvSpPr>
        <p:spPr>
          <a:xfrm>
            <a:off x="1034141" y="464013"/>
            <a:ext cx="10308772" cy="740228"/>
          </a:xfrm>
        </p:spPr>
        <p:txBody>
          <a:bodyPr>
            <a:normAutofit/>
          </a:bodyPr>
          <a:lstStyle/>
          <a:p>
            <a:pPr algn="ctr"/>
            <a:r>
              <a:rPr lang="en-US" b="1" dirty="0">
                <a:latin typeface="Times New Roman" panose="02020603050405020304" pitchFamily="18" charset="0"/>
                <a:cs typeface="Times New Roman" panose="02020603050405020304" pitchFamily="18" charset="0"/>
              </a:rPr>
              <a:t>Models: From Baseline to Deep Learning</a:t>
            </a:r>
            <a:r>
              <a:rPr lang="en-US" dirty="0">
                <a:latin typeface="Times New Roman" panose="02020603050405020304" pitchFamily="18" charset="0"/>
                <a:cs typeface="Times New Roman" panose="02020603050405020304" pitchFamily="18" charset="0"/>
              </a:rPr>
              <a:t> </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D07C92-D4FC-6C0F-D343-6A301EB30051}"/>
              </a:ext>
            </a:extLst>
          </p:cNvPr>
          <p:cNvSpPr>
            <a:spLocks noGrp="1"/>
          </p:cNvSpPr>
          <p:nvPr>
            <p:ph idx="1"/>
          </p:nvPr>
        </p:nvSpPr>
        <p:spPr>
          <a:xfrm>
            <a:off x="849087" y="1614227"/>
            <a:ext cx="7032172" cy="3225970"/>
          </a:xfrm>
        </p:spPr>
        <p:txBody>
          <a:bodyPr>
            <a:normAutofit lnSpcReduction="10000"/>
          </a:bodyPr>
          <a:lstStyle/>
          <a:p>
            <a:pPr lvl="0"/>
            <a:r>
              <a:rPr lang="en-US" b="1" dirty="0">
                <a:latin typeface="Times New Roman" panose="02020603050405020304" pitchFamily="18" charset="0"/>
                <a:cs typeface="Times New Roman" panose="02020603050405020304" pitchFamily="18" charset="0"/>
              </a:rPr>
              <a:t>Logistic Regression</a:t>
            </a:r>
            <a:r>
              <a:rPr lang="en-US" dirty="0">
                <a:latin typeface="Times New Roman" panose="02020603050405020304" pitchFamily="18" charset="0"/>
                <a:cs typeface="Times New Roman" panose="02020603050405020304" pitchFamily="18" charset="0"/>
              </a:rPr>
              <a:t> - baseline on 8-D FFT+DCT features</a:t>
            </a:r>
          </a:p>
          <a:p>
            <a:pPr lvl="0"/>
            <a:r>
              <a:rPr lang="en-US" b="1" dirty="0">
                <a:latin typeface="Times New Roman" panose="02020603050405020304" pitchFamily="18" charset="0"/>
                <a:cs typeface="Times New Roman" panose="02020603050405020304" pitchFamily="18" charset="0"/>
              </a:rPr>
              <a:t>Custom CNN</a:t>
            </a:r>
            <a:r>
              <a:rPr lang="en-US" dirty="0">
                <a:latin typeface="Times New Roman" panose="02020603050405020304" pitchFamily="18" charset="0"/>
                <a:cs typeface="Times New Roman" panose="02020603050405020304" pitchFamily="18" charset="0"/>
              </a:rPr>
              <a:t> - 4 convolutional blocks (32→256 filters), trained on spatial, FFT, and DCT inputs separately</a:t>
            </a:r>
          </a:p>
          <a:p>
            <a:pPr lvl="0"/>
            <a:r>
              <a:rPr lang="en-US" b="1" dirty="0">
                <a:latin typeface="Times New Roman" panose="02020603050405020304" pitchFamily="18" charset="0"/>
                <a:cs typeface="Times New Roman" panose="02020603050405020304" pitchFamily="18" charset="0"/>
              </a:rPr>
              <a:t>VGG16</a:t>
            </a:r>
            <a:r>
              <a:rPr lang="en-US" dirty="0">
                <a:latin typeface="Times New Roman" panose="02020603050405020304" pitchFamily="18" charset="0"/>
                <a:cs typeface="Times New Roman" panose="02020603050405020304" pitchFamily="18" charset="0"/>
              </a:rPr>
              <a:t> (transfer learning) - last 4 layers fine-tuned; ImageNet pretrained</a:t>
            </a:r>
          </a:p>
          <a:p>
            <a:pPr lvl="0"/>
            <a:r>
              <a:rPr lang="en-US" b="1" dirty="0">
                <a:latin typeface="Times New Roman" panose="02020603050405020304" pitchFamily="18" charset="0"/>
                <a:cs typeface="Times New Roman" panose="02020603050405020304" pitchFamily="18" charset="0"/>
              </a:rPr>
              <a:t>ResNet50</a:t>
            </a:r>
            <a:r>
              <a:rPr lang="en-US" dirty="0">
                <a:latin typeface="Times New Roman" panose="02020603050405020304" pitchFamily="18" charset="0"/>
                <a:cs typeface="Times New Roman" panose="02020603050405020304" pitchFamily="18" charset="0"/>
              </a:rPr>
              <a:t> (transfer learning) - last 20 layers fine-tuned; residual connections for deeper feature extraction</a:t>
            </a:r>
          </a:p>
          <a:p>
            <a:pPr lvl="0"/>
            <a:r>
              <a:rPr lang="en-US" dirty="0">
                <a:latin typeface="Times New Roman" panose="02020603050405020304" pitchFamily="18" charset="0"/>
                <a:cs typeface="Times New Roman" panose="02020603050405020304" pitchFamily="18" charset="0"/>
              </a:rPr>
              <a:t>Data augmentation (rotation, flip, zoom, shift) applied to spatial CNN training only</a:t>
            </a:r>
          </a:p>
        </p:txBody>
      </p:sp>
      <p:sp>
        <p:nvSpPr>
          <p:cNvPr id="9" name="TextBox 8">
            <a:extLst>
              <a:ext uri="{FF2B5EF4-FFF2-40B4-BE49-F238E27FC236}">
                <a16:creationId xmlns:a16="http://schemas.microsoft.com/office/drawing/2014/main" id="{7ED05A8B-204C-ACBB-D2A4-848A90715ACA}"/>
              </a:ext>
            </a:extLst>
          </p:cNvPr>
          <p:cNvSpPr txBox="1"/>
          <p:nvPr/>
        </p:nvSpPr>
        <p:spPr>
          <a:xfrm flipH="1">
            <a:off x="1034141" y="6393987"/>
            <a:ext cx="4977535"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CNN Architecture and Training Setup</a:t>
            </a:r>
            <a:endParaRPr lang="en-US" i="1" dirty="0">
              <a:latin typeface="Times New Roman" panose="02020603050405020304" pitchFamily="18" charset="0"/>
              <a:cs typeface="Times New Roman" panose="02020603050405020304" pitchFamily="18" charset="0"/>
            </a:endParaRPr>
          </a:p>
          <a:p>
            <a:pPr algn="ctr"/>
            <a:endParaRPr lang="en-US" i="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F7C1159-5876-E3A8-32BF-0B00DE7B2100}"/>
              </a:ext>
            </a:extLst>
          </p:cNvPr>
          <p:cNvSpPr txBox="1"/>
          <p:nvPr/>
        </p:nvSpPr>
        <p:spPr>
          <a:xfrm>
            <a:off x="849087" y="1106711"/>
            <a:ext cx="60960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Model Architectures</a:t>
            </a:r>
            <a:endParaRPr lang="en-US"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EDB4A39-A173-4E54-93C3-12DF3B6A3D8E}"/>
              </a:ext>
            </a:extLst>
          </p:cNvPr>
          <p:cNvSpPr txBox="1"/>
          <p:nvPr/>
        </p:nvSpPr>
        <p:spPr>
          <a:xfrm flipH="1">
            <a:off x="7105430" y="6012278"/>
            <a:ext cx="5086569"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a:t>
            </a:r>
            <a:r>
              <a:rPr lang="en-US" dirty="0"/>
              <a:t>Transfer Learning Models: VGG16 and ResNet50</a:t>
            </a:r>
            <a:endParaRPr lang="en-US" i="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B03F112-4F3A-BB52-15D2-4B3AB4C5C1F4}"/>
              </a:ext>
            </a:extLst>
          </p:cNvPr>
          <p:cNvPicPr>
            <a:picLocks noChangeAspect="1"/>
          </p:cNvPicPr>
          <p:nvPr/>
        </p:nvPicPr>
        <p:blipFill>
          <a:blip r:embed="rId3"/>
          <a:stretch>
            <a:fillRect/>
          </a:stretch>
        </p:blipFill>
        <p:spPr>
          <a:xfrm>
            <a:off x="1809283" y="4614401"/>
            <a:ext cx="3166180" cy="1779586"/>
          </a:xfrm>
          <a:prstGeom prst="rect">
            <a:avLst/>
          </a:prstGeom>
        </p:spPr>
      </p:pic>
      <p:pic>
        <p:nvPicPr>
          <p:cNvPr id="14" name="Picture 13">
            <a:extLst>
              <a:ext uri="{FF2B5EF4-FFF2-40B4-BE49-F238E27FC236}">
                <a16:creationId xmlns:a16="http://schemas.microsoft.com/office/drawing/2014/main" id="{EBC623A0-F10A-EEC9-8A0A-1F214D3BE7EE}"/>
              </a:ext>
            </a:extLst>
          </p:cNvPr>
          <p:cNvPicPr>
            <a:picLocks noChangeAspect="1"/>
          </p:cNvPicPr>
          <p:nvPr/>
        </p:nvPicPr>
        <p:blipFill>
          <a:blip r:embed="rId4"/>
          <a:stretch>
            <a:fillRect/>
          </a:stretch>
        </p:blipFill>
        <p:spPr>
          <a:xfrm>
            <a:off x="8183382" y="1204241"/>
            <a:ext cx="3159531" cy="3225970"/>
          </a:xfrm>
          <a:prstGeom prst="rect">
            <a:avLst/>
          </a:prstGeom>
        </p:spPr>
      </p:pic>
      <p:pic>
        <p:nvPicPr>
          <p:cNvPr id="16" name="Picture 15">
            <a:extLst>
              <a:ext uri="{FF2B5EF4-FFF2-40B4-BE49-F238E27FC236}">
                <a16:creationId xmlns:a16="http://schemas.microsoft.com/office/drawing/2014/main" id="{572A4F7C-BC56-4727-DB1B-A91C7B5184A4}"/>
              </a:ext>
            </a:extLst>
          </p:cNvPr>
          <p:cNvPicPr>
            <a:picLocks noChangeAspect="1"/>
          </p:cNvPicPr>
          <p:nvPr/>
        </p:nvPicPr>
        <p:blipFill>
          <a:blip r:embed="rId5"/>
          <a:stretch>
            <a:fillRect/>
          </a:stretch>
        </p:blipFill>
        <p:spPr>
          <a:xfrm>
            <a:off x="7696222" y="4483057"/>
            <a:ext cx="4133850" cy="1476375"/>
          </a:xfrm>
          <a:prstGeom prst="rect">
            <a:avLst/>
          </a:prstGeom>
        </p:spPr>
      </p:pic>
    </p:spTree>
    <p:extLst>
      <p:ext uri="{BB962C8B-B14F-4D97-AF65-F5344CB8AC3E}">
        <p14:creationId xmlns:p14="http://schemas.microsoft.com/office/powerpoint/2010/main" val="1869775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51A32-2DEE-6211-5020-727324E3B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78D0F-F80C-D4A6-16C7-7341C61A09F5}"/>
              </a:ext>
            </a:extLst>
          </p:cNvPr>
          <p:cNvSpPr>
            <a:spLocks noGrp="1"/>
          </p:cNvSpPr>
          <p:nvPr>
            <p:ph type="title"/>
          </p:nvPr>
        </p:nvSpPr>
        <p:spPr>
          <a:xfrm>
            <a:off x="1371599" y="553782"/>
            <a:ext cx="9601200" cy="859971"/>
          </a:xfrm>
        </p:spPr>
        <p:txBody>
          <a:bodyPr>
            <a:normAutofit/>
          </a:bodyPr>
          <a:lstStyle/>
          <a:p>
            <a:pPr algn="ctr"/>
            <a:r>
              <a:rPr lang="en-US" b="1" dirty="0">
                <a:latin typeface="Times New Roman" panose="02020603050405020304" pitchFamily="18" charset="0"/>
                <a:cs typeface="Times New Roman" panose="02020603050405020304" pitchFamily="18" charset="0"/>
              </a:rPr>
              <a:t> Evaluation &amp; Ethical Considerations</a:t>
            </a:r>
            <a:r>
              <a:rPr 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28ACA2D6-4AE0-A124-9923-25F2922EEC5B}"/>
              </a:ext>
            </a:extLst>
          </p:cNvPr>
          <p:cNvSpPr>
            <a:spLocks noGrp="1"/>
          </p:cNvSpPr>
          <p:nvPr>
            <p:ph idx="1"/>
          </p:nvPr>
        </p:nvSpPr>
        <p:spPr>
          <a:xfrm>
            <a:off x="1371599" y="1813863"/>
            <a:ext cx="9601200" cy="1854623"/>
          </a:xfrm>
        </p:spPr>
        <p:txBody>
          <a:bodyPr/>
          <a:lstStyle/>
          <a:p>
            <a:pPr lvl="0"/>
            <a:r>
              <a:rPr lang="en-US" b="1" dirty="0">
                <a:latin typeface="Times New Roman" panose="02020603050405020304" pitchFamily="18" charset="0"/>
                <a:cs typeface="Times New Roman" panose="02020603050405020304" pitchFamily="18" charset="0"/>
              </a:rPr>
              <a:t>Metrics: </a:t>
            </a:r>
            <a:r>
              <a:rPr lang="en-US" dirty="0">
                <a:latin typeface="Times New Roman" panose="02020603050405020304" pitchFamily="18" charset="0"/>
                <a:cs typeface="Times New Roman" panose="02020603050405020304" pitchFamily="18" charset="0"/>
              </a:rPr>
              <a:t>Accuracy (primary, since dataset is balanced), Precision, Recall, F1-score</a:t>
            </a:r>
          </a:p>
          <a:p>
            <a:pPr lvl="0"/>
            <a:r>
              <a:rPr lang="en-US" dirty="0">
                <a:latin typeface="Times New Roman" panose="02020603050405020304" pitchFamily="18" charset="0"/>
                <a:cs typeface="Times New Roman" panose="02020603050405020304" pitchFamily="18" charset="0"/>
              </a:rPr>
              <a:t>Confusion matrix  special attention to False Negatives (missed deepfakes)</a:t>
            </a:r>
          </a:p>
          <a:p>
            <a:pPr lvl="0"/>
            <a:r>
              <a:rPr lang="en-US" dirty="0">
                <a:latin typeface="Times New Roman" panose="02020603050405020304" pitchFamily="18" charset="0"/>
                <a:cs typeface="Times New Roman" panose="02020603050405020304" pitchFamily="18" charset="0"/>
              </a:rPr>
              <a:t>Training and validation curves to check convergence and overfitting</a:t>
            </a:r>
          </a:p>
          <a:p>
            <a:pPr lvl="0"/>
            <a:r>
              <a:rPr lang="en-US" dirty="0">
                <a:latin typeface="Times New Roman" panose="02020603050405020304" pitchFamily="18" charset="0"/>
                <a:cs typeface="Times New Roman" panose="02020603050405020304" pitchFamily="18" charset="0"/>
              </a:rPr>
              <a:t>Grouped bar chart comparing all 9 model–input configurations</a:t>
            </a:r>
          </a:p>
        </p:txBody>
      </p:sp>
      <p:sp>
        <p:nvSpPr>
          <p:cNvPr id="5" name="TextBox 4">
            <a:extLst>
              <a:ext uri="{FF2B5EF4-FFF2-40B4-BE49-F238E27FC236}">
                <a16:creationId xmlns:a16="http://schemas.microsoft.com/office/drawing/2014/main" id="{15989841-932E-1C24-5F1A-C37CF95977BD}"/>
              </a:ext>
            </a:extLst>
          </p:cNvPr>
          <p:cNvSpPr txBox="1"/>
          <p:nvPr/>
        </p:nvSpPr>
        <p:spPr>
          <a:xfrm>
            <a:off x="1371599" y="1344734"/>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Data Analysis</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55384E3-84AA-B045-D6C6-3E6022BDCBFC}"/>
              </a:ext>
            </a:extLst>
          </p:cNvPr>
          <p:cNvSpPr txBox="1"/>
          <p:nvPr/>
        </p:nvSpPr>
        <p:spPr>
          <a:xfrm>
            <a:off x="1371599" y="3737505"/>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Ethics</a:t>
            </a:r>
          </a:p>
        </p:txBody>
      </p:sp>
      <p:sp>
        <p:nvSpPr>
          <p:cNvPr id="4" name="Content Placeholder 2">
            <a:extLst>
              <a:ext uri="{FF2B5EF4-FFF2-40B4-BE49-F238E27FC236}">
                <a16:creationId xmlns:a16="http://schemas.microsoft.com/office/drawing/2014/main" id="{DDBB1B20-7DEF-DBE4-D80C-DBA82A9BB5A9}"/>
              </a:ext>
            </a:extLst>
          </p:cNvPr>
          <p:cNvSpPr txBox="1">
            <a:spLocks/>
          </p:cNvSpPr>
          <p:nvPr/>
        </p:nvSpPr>
        <p:spPr>
          <a:xfrm>
            <a:off x="1371599" y="4206634"/>
            <a:ext cx="9601200" cy="1854623"/>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lvl="0"/>
            <a:r>
              <a:rPr lang="en-US" dirty="0">
                <a:latin typeface="Times New Roman" panose="02020603050405020304" pitchFamily="18" charset="0"/>
                <a:cs typeface="Times New Roman" panose="02020603050405020304" pitchFamily="18" charset="0"/>
              </a:rPr>
              <a:t>Kaggle dataset contains no personally identifiable information</a:t>
            </a:r>
          </a:p>
          <a:p>
            <a:pPr lvl="0"/>
            <a:r>
              <a:rPr lang="en-US" dirty="0">
                <a:latin typeface="Times New Roman" panose="02020603050405020304" pitchFamily="18" charset="0"/>
                <a:cs typeface="Times New Roman" panose="02020603050405020304" pitchFamily="18" charset="0"/>
              </a:rPr>
              <a:t>Research is purely defensive  aimed at detecting, not creating, deepfakes</a:t>
            </a:r>
          </a:p>
          <a:p>
            <a:pPr lvl="0"/>
            <a:r>
              <a:rPr lang="en-US" dirty="0">
                <a:latin typeface="Times New Roman" panose="02020603050405020304" pitchFamily="18" charset="0"/>
                <a:cs typeface="Times New Roman" panose="02020603050405020304" pitchFamily="18" charset="0"/>
              </a:rPr>
              <a:t>Full, unbiased reporting of all model results </a:t>
            </a:r>
          </a:p>
        </p:txBody>
      </p:sp>
    </p:spTree>
    <p:extLst>
      <p:ext uri="{BB962C8B-B14F-4D97-AF65-F5344CB8AC3E}">
        <p14:creationId xmlns:p14="http://schemas.microsoft.com/office/powerpoint/2010/main" val="2123407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EFDBE-11E0-86A2-B29C-54857CBC2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F98CF-9A0F-F83D-04E6-59C8664C30DE}"/>
              </a:ext>
            </a:extLst>
          </p:cNvPr>
          <p:cNvSpPr>
            <a:spLocks noGrp="1"/>
          </p:cNvSpPr>
          <p:nvPr>
            <p:ph type="title"/>
          </p:nvPr>
        </p:nvSpPr>
        <p:spPr>
          <a:xfrm>
            <a:off x="1371599" y="553782"/>
            <a:ext cx="9601200" cy="859971"/>
          </a:xfrm>
        </p:spPr>
        <p:txBody>
          <a:bodyPr>
            <a:normAutofit/>
          </a:bodyPr>
          <a:lstStyle/>
          <a:p>
            <a:pPr algn="ctr"/>
            <a:r>
              <a:rPr lang="en-US" b="1" dirty="0">
                <a:latin typeface="Times New Roman" panose="02020603050405020304" pitchFamily="18" charset="0"/>
                <a:cs typeface="Times New Roman" panose="02020603050405020304" pitchFamily="18" charset="0"/>
              </a:rPr>
              <a:t>Proposed Project Timeline</a:t>
            </a:r>
            <a:r>
              <a:rPr lang="en-US"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8740C503-F9A4-00AA-805E-8F703440ABD5}"/>
              </a:ext>
            </a:extLst>
          </p:cNvPr>
          <p:cNvPicPr>
            <a:picLocks noChangeAspect="1"/>
          </p:cNvPicPr>
          <p:nvPr/>
        </p:nvPicPr>
        <p:blipFill>
          <a:blip r:embed="rId3"/>
          <a:srcRect l="-295" t="8075" r="295" b="10635"/>
          <a:stretch>
            <a:fillRect/>
          </a:stretch>
        </p:blipFill>
        <p:spPr>
          <a:xfrm>
            <a:off x="1360713" y="1294010"/>
            <a:ext cx="9815675" cy="4490670"/>
          </a:xfrm>
          <a:prstGeom prst="rect">
            <a:avLst/>
          </a:prstGeom>
        </p:spPr>
      </p:pic>
    </p:spTree>
    <p:extLst>
      <p:ext uri="{BB962C8B-B14F-4D97-AF65-F5344CB8AC3E}">
        <p14:creationId xmlns:p14="http://schemas.microsoft.com/office/powerpoint/2010/main" val="895373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4AFD-735C-C9E4-995F-A9E9D7C8A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E7DCC-FD4A-90B2-6992-197F093FC3FC}"/>
              </a:ext>
            </a:extLst>
          </p:cNvPr>
          <p:cNvSpPr>
            <a:spLocks noGrp="1"/>
          </p:cNvSpPr>
          <p:nvPr>
            <p:ph type="title"/>
          </p:nvPr>
        </p:nvSpPr>
        <p:spPr>
          <a:xfrm>
            <a:off x="1371599" y="553782"/>
            <a:ext cx="9601200" cy="859971"/>
          </a:xfrm>
        </p:spPr>
        <p:txBody>
          <a:bodyPr>
            <a:normAutofit/>
          </a:bodyPr>
          <a:lstStyle/>
          <a:p>
            <a:pPr algn="ctr"/>
            <a:r>
              <a:rPr lang="en-US" b="1" dirty="0">
                <a:latin typeface="Times New Roman" panose="02020603050405020304" pitchFamily="18" charset="0"/>
                <a:cs typeface="Times New Roman" panose="02020603050405020304" pitchFamily="18" charset="0"/>
              </a:rPr>
              <a:t>Challenges &amp; Support Needs </a:t>
            </a:r>
          </a:p>
        </p:txBody>
      </p:sp>
      <p:sp>
        <p:nvSpPr>
          <p:cNvPr id="3" name="Content Placeholder 2">
            <a:extLst>
              <a:ext uri="{FF2B5EF4-FFF2-40B4-BE49-F238E27FC236}">
                <a16:creationId xmlns:a16="http://schemas.microsoft.com/office/drawing/2014/main" id="{AE56C45D-889D-6DCF-2357-B476720EA7BC}"/>
              </a:ext>
            </a:extLst>
          </p:cNvPr>
          <p:cNvSpPr>
            <a:spLocks noGrp="1"/>
          </p:cNvSpPr>
          <p:nvPr>
            <p:ph idx="1"/>
          </p:nvPr>
        </p:nvSpPr>
        <p:spPr>
          <a:xfrm>
            <a:off x="1371599" y="1813863"/>
            <a:ext cx="9601200" cy="1854623"/>
          </a:xfrm>
        </p:spPr>
        <p:txBody>
          <a:bodyPr>
            <a:noAutofit/>
          </a:bodyPr>
          <a:lstStyle/>
          <a:p>
            <a:pPr lvl="0"/>
            <a:r>
              <a:rPr lang="en-US" dirty="0">
                <a:latin typeface="Times New Roman" panose="02020603050405020304" pitchFamily="18" charset="0"/>
                <a:cs typeface="Times New Roman" panose="02020603050405020304" pitchFamily="18" charset="0"/>
              </a:rPr>
              <a:t>Limited dataset scale (1,000 images/class) may constrain </a:t>
            </a:r>
            <a:r>
              <a:rPr lang="en-US" dirty="0" err="1">
                <a:latin typeface="Times New Roman" panose="02020603050405020304" pitchFamily="18" charset="0"/>
                <a:cs typeface="Times New Roman" panose="02020603050405020304" pitchFamily="18" charset="0"/>
              </a:rPr>
              <a:t>generalisability</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Single dataset/generation technique no cross-dataset validation</a:t>
            </a:r>
          </a:p>
          <a:p>
            <a:pPr lvl="0"/>
            <a:r>
              <a:rPr lang="en-US" dirty="0">
                <a:latin typeface="Times New Roman" panose="02020603050405020304" pitchFamily="18" charset="0"/>
                <a:cs typeface="Times New Roman" panose="02020603050405020304" pitchFamily="18" charset="0"/>
              </a:rPr>
              <a:t>Resolution downscaling (128×128) and grayscale conversion may lose fine artefact detail</a:t>
            </a:r>
          </a:p>
          <a:p>
            <a:pPr lvl="0"/>
            <a:r>
              <a:rPr lang="en-US" dirty="0">
                <a:latin typeface="Times New Roman" panose="02020603050405020304" pitchFamily="18" charset="0"/>
                <a:cs typeface="Times New Roman" panose="02020603050405020304" pitchFamily="18" charset="0"/>
              </a:rPr>
              <a:t>No cross-validation or formal significance testing (McNemar/t-test) due to time/compute limits</a:t>
            </a:r>
          </a:p>
          <a:p>
            <a:pPr lvl="0"/>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session/GPU memory limits during sequential model training</a:t>
            </a:r>
          </a:p>
        </p:txBody>
      </p:sp>
      <p:sp>
        <p:nvSpPr>
          <p:cNvPr id="5" name="TextBox 4">
            <a:extLst>
              <a:ext uri="{FF2B5EF4-FFF2-40B4-BE49-F238E27FC236}">
                <a16:creationId xmlns:a16="http://schemas.microsoft.com/office/drawing/2014/main" id="{4AD0454E-94FC-B8FB-5D66-ED0F40E04E2D}"/>
              </a:ext>
            </a:extLst>
          </p:cNvPr>
          <p:cNvSpPr txBox="1"/>
          <p:nvPr/>
        </p:nvSpPr>
        <p:spPr>
          <a:xfrm>
            <a:off x="1295400" y="1312767"/>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Anticipated Challenges</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38E26D1-1B7E-570B-32DE-9DC5AF98C6BC}"/>
              </a:ext>
            </a:extLst>
          </p:cNvPr>
          <p:cNvSpPr txBox="1"/>
          <p:nvPr/>
        </p:nvSpPr>
        <p:spPr>
          <a:xfrm>
            <a:off x="1142998" y="4538996"/>
            <a:ext cx="5747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Support and Training Needs</a:t>
            </a:r>
            <a:endParaRPr lang="en-US" sz="20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2396C80B-DCD2-34B8-F47C-477C94D162F7}"/>
              </a:ext>
            </a:extLst>
          </p:cNvPr>
          <p:cNvSpPr txBox="1">
            <a:spLocks/>
          </p:cNvSpPr>
          <p:nvPr/>
        </p:nvSpPr>
        <p:spPr>
          <a:xfrm>
            <a:off x="1295400" y="4939106"/>
            <a:ext cx="9601200" cy="1854623"/>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lvl="0"/>
            <a:r>
              <a:rPr lang="en-US" dirty="0">
                <a:latin typeface="Times New Roman" panose="02020603050405020304" pitchFamily="18" charset="0"/>
                <a:cs typeface="Times New Roman" panose="02020603050405020304" pitchFamily="18" charset="0"/>
              </a:rPr>
              <a:t>Kaggle dataset contains no personally identifiable information</a:t>
            </a:r>
          </a:p>
          <a:p>
            <a:pPr lvl="0"/>
            <a:r>
              <a:rPr lang="en-US" dirty="0">
                <a:latin typeface="Times New Roman" panose="02020603050405020304" pitchFamily="18" charset="0"/>
                <a:cs typeface="Times New Roman" panose="02020603050405020304" pitchFamily="18" charset="0"/>
              </a:rPr>
              <a:t>Research is purely defensive  aimed at detecting, not creating, deepfakes</a:t>
            </a:r>
          </a:p>
          <a:p>
            <a:pPr lvl="0"/>
            <a:r>
              <a:rPr lang="en-US" dirty="0">
                <a:latin typeface="Times New Roman" panose="02020603050405020304" pitchFamily="18" charset="0"/>
                <a:cs typeface="Times New Roman" panose="02020603050405020304" pitchFamily="18" charset="0"/>
              </a:rPr>
              <a:t>Full, unbiased reporting of all model results (no cherry-picking)</a:t>
            </a:r>
          </a:p>
        </p:txBody>
      </p:sp>
    </p:spTree>
    <p:extLst>
      <p:ext uri="{BB962C8B-B14F-4D97-AF65-F5344CB8AC3E}">
        <p14:creationId xmlns:p14="http://schemas.microsoft.com/office/powerpoint/2010/main" val="4214857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CE25A-2953-B465-D29C-DEFB8B27B068}"/>
              </a:ext>
            </a:extLst>
          </p:cNvPr>
          <p:cNvSpPr>
            <a:spLocks noGrp="1"/>
          </p:cNvSpPr>
          <p:nvPr>
            <p:ph type="title"/>
          </p:nvPr>
        </p:nvSpPr>
        <p:spPr>
          <a:xfrm>
            <a:off x="1371600" y="685800"/>
            <a:ext cx="9601200" cy="751114"/>
          </a:xfrm>
        </p:spPr>
        <p:txBody>
          <a:bodyPr/>
          <a:lstStyle/>
          <a:p>
            <a:pPr algn="ctr"/>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7C34B0EC-0CAF-124C-5494-85379387E497}"/>
              </a:ext>
            </a:extLst>
          </p:cNvPr>
          <p:cNvSpPr>
            <a:spLocks noGrp="1"/>
          </p:cNvSpPr>
          <p:nvPr>
            <p:ph idx="1"/>
          </p:nvPr>
        </p:nvSpPr>
        <p:spPr>
          <a:xfrm>
            <a:off x="1534886" y="1638300"/>
            <a:ext cx="9601200" cy="3581400"/>
          </a:xfrm>
        </p:spPr>
        <p:txBody>
          <a:bodyPr>
            <a:normAutofit fontScale="92500" lnSpcReduction="10000"/>
          </a:bodyPr>
          <a:lstStyle/>
          <a:p>
            <a:pPr marL="0" indent="0">
              <a:buNone/>
            </a:pPr>
            <a:r>
              <a:rPr lang="en-AU" dirty="0"/>
              <a:t>Pei, G., Zhang, J., Hu, M., Zhang, Z., Wang, C., Wu, Y., Zhai, G., Yang, J., &amp; Tao, D. (2026). Deepfake Generation and Detection: A Benchmark and Survey. </a:t>
            </a:r>
            <a:r>
              <a:rPr lang="en-AU" i="1" dirty="0"/>
              <a:t>ACM Computing Surveys</a:t>
            </a:r>
            <a:r>
              <a:rPr lang="en-AU" dirty="0"/>
              <a:t>. </a:t>
            </a:r>
            <a:r>
              <a:rPr lang="en-AU" u="sng" dirty="0">
                <a:hlinkClick r:id="rId3"/>
              </a:rPr>
              <a:t>https://doi.org/10.1145/3801962</a:t>
            </a:r>
            <a:r>
              <a:rPr lang="en-AU" dirty="0"/>
              <a:t> </a:t>
            </a:r>
          </a:p>
          <a:p>
            <a:pPr marL="0" indent="0">
              <a:buNone/>
            </a:pPr>
            <a:r>
              <a:rPr lang="en-AU" dirty="0"/>
              <a:t>Sunil, R., Mer, P., Diwan, A., Mahadeva, R., &amp; Sharma, A. (2025). Exploring autonomous methods for deepfake detection: A detailed survey on techniques and evaluation. </a:t>
            </a:r>
            <a:r>
              <a:rPr lang="en-AU" i="1" dirty="0" err="1"/>
              <a:t>Heliyon</a:t>
            </a:r>
            <a:r>
              <a:rPr lang="en-AU" dirty="0"/>
              <a:t>, </a:t>
            </a:r>
            <a:r>
              <a:rPr lang="en-AU" i="1" dirty="0"/>
              <a:t>11</a:t>
            </a:r>
            <a:r>
              <a:rPr lang="en-AU" dirty="0"/>
              <a:t>(3), e42273. </a:t>
            </a:r>
            <a:r>
              <a:rPr lang="en-AU" u="sng" dirty="0">
                <a:hlinkClick r:id="rId4"/>
              </a:rPr>
              <a:t>https://doi.org/10.1016/j.heliyon.2025.e42273</a:t>
            </a:r>
            <a:r>
              <a:rPr lang="en-AU" dirty="0"/>
              <a:t> </a:t>
            </a:r>
            <a:endParaRPr lang="en-US" dirty="0"/>
          </a:p>
          <a:p>
            <a:pPr marL="0" indent="0">
              <a:buNone/>
            </a:pPr>
            <a:r>
              <a:rPr lang="en-AU" dirty="0"/>
              <a:t>Sohail, S., Sajjad, S. M., Zafar, A., Iqbal, Z., Muhammad, Z., &amp; Kazim, M. (2025). Deepfake Image Forensics for Privacy Protection and Authenticity Using Deep Learning. </a:t>
            </a:r>
            <a:r>
              <a:rPr lang="en-AU" i="1" dirty="0"/>
              <a:t>Information</a:t>
            </a:r>
            <a:r>
              <a:rPr lang="en-AU" dirty="0"/>
              <a:t>, </a:t>
            </a:r>
            <a:r>
              <a:rPr lang="en-AU" i="1" dirty="0"/>
              <a:t>16</a:t>
            </a:r>
            <a:r>
              <a:rPr lang="en-AU" dirty="0"/>
              <a:t>(4), 270–270. </a:t>
            </a:r>
            <a:r>
              <a:rPr lang="en-AU" u="sng" dirty="0">
                <a:hlinkClick r:id="rId5"/>
              </a:rPr>
              <a:t>https://doi.org/10.3390/info16040270</a:t>
            </a:r>
            <a:r>
              <a:rPr lang="en-AU" dirty="0"/>
              <a:t> </a:t>
            </a:r>
            <a:endParaRPr lang="en-US" dirty="0"/>
          </a:p>
          <a:p>
            <a:pPr marL="0" indent="0">
              <a:buNone/>
            </a:pPr>
            <a:r>
              <a:rPr lang="en-US" dirty="0" err="1"/>
              <a:t>GeeksforGeeks</a:t>
            </a:r>
            <a:r>
              <a:rPr lang="en-US" dirty="0"/>
              <a:t> (2019). </a:t>
            </a:r>
            <a:r>
              <a:rPr lang="en-US" i="1" dirty="0"/>
              <a:t>Generative Adversarial Network (GAN)</a:t>
            </a:r>
            <a:r>
              <a:rPr lang="en-US" dirty="0"/>
              <a:t>. [online] </a:t>
            </a:r>
            <a:r>
              <a:rPr lang="en-US" dirty="0" err="1"/>
              <a:t>GeeksforGeeks</a:t>
            </a:r>
            <a:r>
              <a:rPr lang="en-US" dirty="0"/>
              <a:t>. Available at: </a:t>
            </a:r>
            <a:r>
              <a:rPr lang="en-US" dirty="0">
                <a:hlinkClick r:id="rId6"/>
              </a:rPr>
              <a:t>https://www.geeksforgeeks.org/deep-learning/generative-adversarial-network-gan/</a:t>
            </a:r>
            <a:r>
              <a:rPr lang="en-US" dirty="0"/>
              <a:t>. </a:t>
            </a:r>
          </a:p>
          <a:p>
            <a:pPr marL="0" indent="0">
              <a:buNone/>
            </a:pPr>
            <a:endParaRPr lang="en-US" dirty="0"/>
          </a:p>
        </p:txBody>
      </p:sp>
    </p:spTree>
    <p:extLst>
      <p:ext uri="{BB962C8B-B14F-4D97-AF65-F5344CB8AC3E}">
        <p14:creationId xmlns:p14="http://schemas.microsoft.com/office/powerpoint/2010/main" val="2764155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2420C-AB1B-AD83-D72D-17F06D880754}"/>
              </a:ext>
            </a:extLst>
          </p:cNvPr>
          <p:cNvSpPr>
            <a:spLocks noGrp="1"/>
          </p:cNvSpPr>
          <p:nvPr>
            <p:ph idx="1"/>
          </p:nvPr>
        </p:nvSpPr>
        <p:spPr>
          <a:xfrm>
            <a:off x="1545771" y="1534885"/>
            <a:ext cx="9601200" cy="3581400"/>
          </a:xfrm>
        </p:spPr>
        <p:txBody>
          <a:bodyPr>
            <a:normAutofit/>
          </a:bodyPr>
          <a:lstStyle/>
          <a:p>
            <a:pPr marL="0" indent="0">
              <a:buNone/>
            </a:pPr>
            <a:endParaRPr lang="en-US" sz="6000" b="1" dirty="0">
              <a:latin typeface="Times New Roman" panose="02020603050405020304" pitchFamily="18" charset="0"/>
              <a:cs typeface="Times New Roman" panose="02020603050405020304" pitchFamily="18" charset="0"/>
            </a:endParaRPr>
          </a:p>
          <a:p>
            <a:pPr marL="0" indent="0">
              <a:buNone/>
            </a:pPr>
            <a:r>
              <a:rPr lang="en-US" sz="6000" b="1"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328986566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{FF5C9FE3-33F8-4B87-A56F-A82B9446FFBF}TFc3084226-2d0c-440f-9f46-6b48c7a7f670e6ba4a85-fc4a2881d6b3</Template>
  <TotalTime>229</TotalTime>
  <Words>2267</Words>
  <Application>Microsoft Office PowerPoint</Application>
  <PresentationFormat>Widescreen</PresentationFormat>
  <Paragraphs>187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Franklin Gothic Book</vt:lpstr>
      <vt:lpstr>Times New Roman</vt:lpstr>
      <vt:lpstr>Wingdings</vt:lpstr>
      <vt:lpstr>Crop</vt:lpstr>
      <vt:lpstr>Deepfake Image Detection using Frequency-Domain Features</vt:lpstr>
      <vt:lpstr>Background: Rise of AI-Generated Media</vt:lpstr>
      <vt:lpstr>Risks and the Need for Detection  </vt:lpstr>
      <vt:lpstr>Research Problem &amp; Gap</vt:lpstr>
      <vt:lpstr>Research Aim &amp; Objectives</vt:lpstr>
      <vt:lpstr>Research Questions &amp; Scope </vt:lpstr>
      <vt:lpstr>Significance &amp; Contributions</vt:lpstr>
      <vt:lpstr>Quantitative, Experimental Design</vt:lpstr>
      <vt:lpstr>Dataset &amp; Sampling Strategy </vt:lpstr>
      <vt:lpstr>Data Preprocessing </vt:lpstr>
      <vt:lpstr>Frequency-Domain Feature Engineering </vt:lpstr>
      <vt:lpstr>Models: From Baseline to Deep Learning </vt:lpstr>
      <vt:lpstr> Evaluation &amp; Ethical Considerations </vt:lpstr>
      <vt:lpstr>Proposed Project Timeline </vt:lpstr>
      <vt:lpstr>Challenges &amp; Support Needs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5</cp:revision>
  <dcterms:created xsi:type="dcterms:W3CDTF">2026-07-04T06:46:55Z</dcterms:created>
  <dcterms:modified xsi:type="dcterms:W3CDTF">2026-07-04T14:48:50Z</dcterms:modified>
</cp:coreProperties>
</file>